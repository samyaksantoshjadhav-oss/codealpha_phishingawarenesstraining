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58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4040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267958" y="890981"/>
            <a:ext cx="6134734" cy="4229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F1F1F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267958" y="5495848"/>
            <a:ext cx="6604000" cy="1741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 u="heavy">
                <a:solidFill>
                  <a:srgbClr val="E4DFDF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F1F1F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50" b="0" i="0" u="heavy">
                <a:solidFill>
                  <a:srgbClr val="E4DFDF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F1F1F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0" i="0">
                <a:solidFill>
                  <a:srgbClr val="F1F1F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4040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304" y="2022805"/>
            <a:ext cx="9989820" cy="13283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0" i="0">
                <a:solidFill>
                  <a:srgbClr val="F1F1F3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04840" y="3441180"/>
            <a:ext cx="8644890" cy="2207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50" b="0" i="0" u="heavy">
                <a:solidFill>
                  <a:srgbClr val="E4DFDF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yber.gov.in/" TargetMode="External"/><Relationship Id="rId2" Type="http://schemas.openxmlformats.org/officeDocument/2006/relationships/hyperlink" Target="http://www.phishing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isa.go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ts val="11200"/>
              </a:lnSpc>
              <a:spcBef>
                <a:spcPts val="45"/>
              </a:spcBef>
            </a:pPr>
            <a:r>
              <a:rPr sz="8900" spc="-10" dirty="0"/>
              <a:t>Phishing </a:t>
            </a:r>
            <a:r>
              <a:rPr sz="8900" spc="190" dirty="0"/>
              <a:t>Awareness</a:t>
            </a:r>
            <a:endParaRPr sz="8900"/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8900" spc="-10" dirty="0"/>
              <a:t>Training</a:t>
            </a:r>
            <a:endParaRPr sz="89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700"/>
              </a:lnSpc>
              <a:spcBef>
                <a:spcPts val="100"/>
              </a:spcBef>
            </a:pPr>
            <a:r>
              <a:rPr sz="3550" u="none" spc="75" dirty="0">
                <a:solidFill>
                  <a:srgbClr val="F1F1F3"/>
                </a:solidFill>
              </a:rPr>
              <a:t>By</a:t>
            </a:r>
            <a:r>
              <a:rPr sz="3550" u="none" spc="-145" dirty="0">
                <a:solidFill>
                  <a:srgbClr val="F1F1F3"/>
                </a:solidFill>
              </a:rPr>
              <a:t> </a:t>
            </a:r>
            <a:r>
              <a:rPr sz="3550" u="none" spc="165" dirty="0">
                <a:solidFill>
                  <a:srgbClr val="F1F1F3"/>
                </a:solidFill>
              </a:rPr>
              <a:t>Samyak</a:t>
            </a:r>
            <a:r>
              <a:rPr sz="3550" u="none" spc="-155" dirty="0">
                <a:solidFill>
                  <a:srgbClr val="F1F1F3"/>
                </a:solidFill>
              </a:rPr>
              <a:t> </a:t>
            </a:r>
            <a:r>
              <a:rPr sz="3550" u="none" spc="85" dirty="0">
                <a:solidFill>
                  <a:srgbClr val="F1F1F3"/>
                </a:solidFill>
              </a:rPr>
              <a:t>Santosh</a:t>
            </a:r>
            <a:r>
              <a:rPr sz="3550" u="none" spc="-140" dirty="0">
                <a:solidFill>
                  <a:srgbClr val="F1F1F3"/>
                </a:solidFill>
              </a:rPr>
              <a:t> </a:t>
            </a:r>
            <a:r>
              <a:rPr sz="3550" u="none" spc="305" dirty="0">
                <a:solidFill>
                  <a:srgbClr val="F1F1F3"/>
                </a:solidFill>
              </a:rPr>
              <a:t>Jadhav</a:t>
            </a:r>
            <a:r>
              <a:rPr sz="3550" u="none" spc="-135" dirty="0">
                <a:solidFill>
                  <a:srgbClr val="F1F1F3"/>
                </a:solidFill>
              </a:rPr>
              <a:t> </a:t>
            </a:r>
            <a:r>
              <a:rPr sz="3550" u="none" spc="459" dirty="0">
                <a:solidFill>
                  <a:srgbClr val="F1F1F3"/>
                </a:solidFill>
              </a:rPr>
              <a:t>– </a:t>
            </a:r>
            <a:r>
              <a:rPr sz="3550" u="none" spc="100" dirty="0">
                <a:solidFill>
                  <a:srgbClr val="F1F1F3"/>
                </a:solidFill>
              </a:rPr>
              <a:t>CodeAlpha</a:t>
            </a:r>
            <a:r>
              <a:rPr sz="3550" u="none" spc="-114" dirty="0">
                <a:solidFill>
                  <a:srgbClr val="F1F1F3"/>
                </a:solidFill>
              </a:rPr>
              <a:t> </a:t>
            </a:r>
            <a:r>
              <a:rPr sz="3550" u="none" spc="45" dirty="0">
                <a:solidFill>
                  <a:srgbClr val="F1F1F3"/>
                </a:solidFill>
              </a:rPr>
              <a:t>Cybersecurity </a:t>
            </a:r>
            <a:r>
              <a:rPr sz="3550" u="none" spc="-10" dirty="0">
                <a:solidFill>
                  <a:srgbClr val="F1F1F3"/>
                </a:solidFill>
              </a:rPr>
              <a:t>Internship</a:t>
            </a:r>
            <a:endParaRPr sz="35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67958" y="1701799"/>
            <a:ext cx="4845050" cy="704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What</a:t>
            </a:r>
            <a:r>
              <a:rPr spc="-200" dirty="0"/>
              <a:t> </a:t>
            </a:r>
            <a:r>
              <a:rPr spc="-125" dirty="0"/>
              <a:t>is</a:t>
            </a:r>
            <a:r>
              <a:rPr spc="-200" dirty="0"/>
              <a:t> </a:t>
            </a:r>
            <a:r>
              <a:rPr spc="-10" dirty="0"/>
              <a:t>Phishing?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264909" y="2779776"/>
            <a:ext cx="3695700" cy="2124710"/>
            <a:chOff x="6264909" y="2779776"/>
            <a:chExt cx="3695700" cy="2124710"/>
          </a:xfrm>
        </p:grpSpPr>
        <p:sp>
          <p:nvSpPr>
            <p:cNvPr id="5" name="object 5"/>
            <p:cNvSpPr/>
            <p:nvPr/>
          </p:nvSpPr>
          <p:spPr>
            <a:xfrm>
              <a:off x="6280149" y="2795016"/>
              <a:ext cx="3665220" cy="2094230"/>
            </a:xfrm>
            <a:custGeom>
              <a:avLst/>
              <a:gdLst/>
              <a:ahLst/>
              <a:cxnLst/>
              <a:rect l="l" t="t" r="r" b="b"/>
              <a:pathLst>
                <a:path w="3665220" h="2094229">
                  <a:moveTo>
                    <a:pt x="3569461" y="0"/>
                  </a:moveTo>
                  <a:lnTo>
                    <a:pt x="95250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1998472"/>
                  </a:lnTo>
                  <a:lnTo>
                    <a:pt x="7489" y="2035536"/>
                  </a:lnTo>
                  <a:lnTo>
                    <a:pt x="27908" y="2065813"/>
                  </a:lnTo>
                  <a:lnTo>
                    <a:pt x="58185" y="2086232"/>
                  </a:lnTo>
                  <a:lnTo>
                    <a:pt x="95250" y="2093722"/>
                  </a:lnTo>
                  <a:lnTo>
                    <a:pt x="3569461" y="2093722"/>
                  </a:lnTo>
                  <a:lnTo>
                    <a:pt x="3606599" y="2086232"/>
                  </a:lnTo>
                  <a:lnTo>
                    <a:pt x="3636914" y="2065813"/>
                  </a:lnTo>
                  <a:lnTo>
                    <a:pt x="3657347" y="2035536"/>
                  </a:lnTo>
                  <a:lnTo>
                    <a:pt x="3664839" y="1998472"/>
                  </a:lnTo>
                  <a:lnTo>
                    <a:pt x="3664839" y="95250"/>
                  </a:lnTo>
                  <a:lnTo>
                    <a:pt x="3657347" y="58185"/>
                  </a:lnTo>
                  <a:lnTo>
                    <a:pt x="3636914" y="27908"/>
                  </a:lnTo>
                  <a:lnTo>
                    <a:pt x="3606599" y="7489"/>
                  </a:lnTo>
                  <a:lnTo>
                    <a:pt x="3569461" y="0"/>
                  </a:lnTo>
                  <a:close/>
                </a:path>
              </a:pathLst>
            </a:custGeom>
            <a:solidFill>
              <a:srgbClr val="0404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280149" y="2795016"/>
              <a:ext cx="3665220" cy="2094230"/>
            </a:xfrm>
            <a:custGeom>
              <a:avLst/>
              <a:gdLst/>
              <a:ahLst/>
              <a:cxnLst/>
              <a:rect l="l" t="t" r="r" b="b"/>
              <a:pathLst>
                <a:path w="3665220" h="2094229">
                  <a:moveTo>
                    <a:pt x="0" y="95250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3569461" y="0"/>
                  </a:lnTo>
                  <a:lnTo>
                    <a:pt x="3606599" y="7489"/>
                  </a:lnTo>
                  <a:lnTo>
                    <a:pt x="3636914" y="27908"/>
                  </a:lnTo>
                  <a:lnTo>
                    <a:pt x="3657347" y="58185"/>
                  </a:lnTo>
                  <a:lnTo>
                    <a:pt x="3664839" y="95250"/>
                  </a:lnTo>
                  <a:lnTo>
                    <a:pt x="3664839" y="1998472"/>
                  </a:lnTo>
                  <a:lnTo>
                    <a:pt x="3657347" y="2035536"/>
                  </a:lnTo>
                  <a:lnTo>
                    <a:pt x="3636914" y="2065813"/>
                  </a:lnTo>
                  <a:lnTo>
                    <a:pt x="3606599" y="2086232"/>
                  </a:lnTo>
                  <a:lnTo>
                    <a:pt x="3569461" y="2093722"/>
                  </a:lnTo>
                  <a:lnTo>
                    <a:pt x="95250" y="2093722"/>
                  </a:lnTo>
                  <a:lnTo>
                    <a:pt x="58185" y="2086232"/>
                  </a:lnTo>
                  <a:lnTo>
                    <a:pt x="27908" y="2065813"/>
                  </a:lnTo>
                  <a:lnTo>
                    <a:pt x="7489" y="2035536"/>
                  </a:lnTo>
                  <a:lnTo>
                    <a:pt x="0" y="1998472"/>
                  </a:lnTo>
                  <a:lnTo>
                    <a:pt x="0" y="95250"/>
                  </a:lnTo>
                  <a:close/>
                </a:path>
              </a:pathLst>
            </a:custGeom>
            <a:ln w="30480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334297" y="3027933"/>
            <a:ext cx="3560445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Definition</a:t>
            </a:r>
            <a:endParaRPr sz="2200">
              <a:latin typeface="Lucida Sans Unicode"/>
              <a:cs typeface="Lucida Sans Unicode"/>
            </a:endParaRPr>
          </a:p>
          <a:p>
            <a:pPr marL="203200" marR="248920">
              <a:lnSpc>
                <a:spcPct val="138300"/>
              </a:lnSpc>
              <a:spcBef>
                <a:spcPts val="940"/>
              </a:spcBef>
            </a:pP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Phishing</a:t>
            </a:r>
            <a:r>
              <a:rPr sz="1750" spc="-5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is</a:t>
            </a:r>
            <a:r>
              <a:rPr sz="1750" spc="-3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a</a:t>
            </a:r>
            <a:r>
              <a:rPr sz="1750" spc="-50" dirty="0">
                <a:solidFill>
                  <a:srgbClr val="E4DFDF"/>
                </a:solidFill>
                <a:latin typeface="Trebuchet MS"/>
                <a:cs typeface="Trebuchet MS"/>
              </a:rPr>
              <a:t> cyber</a:t>
            </a:r>
            <a:r>
              <a:rPr sz="1750" spc="-10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60" dirty="0">
                <a:solidFill>
                  <a:srgbClr val="E4DFDF"/>
                </a:solidFill>
                <a:latin typeface="Trebuchet MS"/>
                <a:cs typeface="Trebuchet MS"/>
              </a:rPr>
              <a:t>attack</a:t>
            </a:r>
            <a:r>
              <a:rPr sz="17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0" dirty="0">
                <a:solidFill>
                  <a:srgbClr val="E4DFDF"/>
                </a:solidFill>
                <a:latin typeface="Trebuchet MS"/>
                <a:cs typeface="Trebuchet MS"/>
              </a:rPr>
              <a:t>where </a:t>
            </a:r>
            <a:r>
              <a:rPr sz="1750" spc="-30" dirty="0">
                <a:solidFill>
                  <a:srgbClr val="E4DFDF"/>
                </a:solidFill>
                <a:latin typeface="Trebuchet MS"/>
                <a:cs typeface="Trebuchet MS"/>
              </a:rPr>
              <a:t>attackers</a:t>
            </a:r>
            <a:r>
              <a:rPr sz="1750" spc="-4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70" dirty="0">
                <a:solidFill>
                  <a:srgbClr val="E4DFDF"/>
                </a:solidFill>
                <a:latin typeface="Trebuchet MS"/>
                <a:cs typeface="Trebuchet MS"/>
              </a:rPr>
              <a:t>trick</a:t>
            </a:r>
            <a:r>
              <a:rPr sz="1750" spc="-2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users</a:t>
            </a:r>
            <a:r>
              <a:rPr sz="1750" spc="-4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0" dirty="0">
                <a:solidFill>
                  <a:srgbClr val="E4DFDF"/>
                </a:solidFill>
                <a:latin typeface="Trebuchet MS"/>
                <a:cs typeface="Trebuchet MS"/>
              </a:rPr>
              <a:t>into </a:t>
            </a:r>
            <a:r>
              <a:rPr sz="1750" spc="-45" dirty="0">
                <a:solidFill>
                  <a:srgbClr val="E4DFDF"/>
                </a:solidFill>
                <a:latin typeface="Trebuchet MS"/>
                <a:cs typeface="Trebuchet MS"/>
              </a:rPr>
              <a:t>revealing</a:t>
            </a:r>
            <a:r>
              <a:rPr sz="1750" spc="-6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E4DFDF"/>
                </a:solidFill>
                <a:latin typeface="Trebuchet MS"/>
                <a:cs typeface="Trebuchet MS"/>
              </a:rPr>
              <a:t>sensitive</a:t>
            </a:r>
            <a:r>
              <a:rPr sz="1750" spc="-6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data.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0156443" y="2779776"/>
            <a:ext cx="3695700" cy="2124710"/>
            <a:chOff x="10156443" y="2779776"/>
            <a:chExt cx="3695700" cy="2124710"/>
          </a:xfrm>
        </p:grpSpPr>
        <p:sp>
          <p:nvSpPr>
            <p:cNvPr id="9" name="object 9"/>
            <p:cNvSpPr/>
            <p:nvPr/>
          </p:nvSpPr>
          <p:spPr>
            <a:xfrm>
              <a:off x="10171683" y="2795016"/>
              <a:ext cx="3665220" cy="2094230"/>
            </a:xfrm>
            <a:custGeom>
              <a:avLst/>
              <a:gdLst/>
              <a:ahLst/>
              <a:cxnLst/>
              <a:rect l="l" t="t" r="r" b="b"/>
              <a:pathLst>
                <a:path w="3665219" h="2094229">
                  <a:moveTo>
                    <a:pt x="3569716" y="0"/>
                  </a:moveTo>
                  <a:lnTo>
                    <a:pt x="95376" y="0"/>
                  </a:lnTo>
                  <a:lnTo>
                    <a:pt x="58239" y="7489"/>
                  </a:lnTo>
                  <a:lnTo>
                    <a:pt x="27924" y="27908"/>
                  </a:lnTo>
                  <a:lnTo>
                    <a:pt x="7491" y="58185"/>
                  </a:lnTo>
                  <a:lnTo>
                    <a:pt x="0" y="95250"/>
                  </a:lnTo>
                  <a:lnTo>
                    <a:pt x="0" y="1998472"/>
                  </a:lnTo>
                  <a:lnTo>
                    <a:pt x="7491" y="2035536"/>
                  </a:lnTo>
                  <a:lnTo>
                    <a:pt x="27924" y="2065813"/>
                  </a:lnTo>
                  <a:lnTo>
                    <a:pt x="58239" y="2086232"/>
                  </a:lnTo>
                  <a:lnTo>
                    <a:pt x="95376" y="2093722"/>
                  </a:lnTo>
                  <a:lnTo>
                    <a:pt x="3569716" y="2093722"/>
                  </a:lnTo>
                  <a:lnTo>
                    <a:pt x="3606780" y="2086232"/>
                  </a:lnTo>
                  <a:lnTo>
                    <a:pt x="3637057" y="2065813"/>
                  </a:lnTo>
                  <a:lnTo>
                    <a:pt x="3657476" y="2035536"/>
                  </a:lnTo>
                  <a:lnTo>
                    <a:pt x="3664966" y="1998472"/>
                  </a:lnTo>
                  <a:lnTo>
                    <a:pt x="3664966" y="95250"/>
                  </a:lnTo>
                  <a:lnTo>
                    <a:pt x="3657476" y="58185"/>
                  </a:lnTo>
                  <a:lnTo>
                    <a:pt x="3637057" y="27908"/>
                  </a:lnTo>
                  <a:lnTo>
                    <a:pt x="3606780" y="7489"/>
                  </a:lnTo>
                  <a:lnTo>
                    <a:pt x="3569716" y="0"/>
                  </a:lnTo>
                  <a:close/>
                </a:path>
              </a:pathLst>
            </a:custGeom>
            <a:solidFill>
              <a:srgbClr val="0404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171683" y="2795016"/>
              <a:ext cx="3665220" cy="2094230"/>
            </a:xfrm>
            <a:custGeom>
              <a:avLst/>
              <a:gdLst/>
              <a:ahLst/>
              <a:cxnLst/>
              <a:rect l="l" t="t" r="r" b="b"/>
              <a:pathLst>
                <a:path w="3665219" h="2094229">
                  <a:moveTo>
                    <a:pt x="0" y="95250"/>
                  </a:moveTo>
                  <a:lnTo>
                    <a:pt x="7491" y="58185"/>
                  </a:lnTo>
                  <a:lnTo>
                    <a:pt x="27924" y="27908"/>
                  </a:lnTo>
                  <a:lnTo>
                    <a:pt x="58239" y="7489"/>
                  </a:lnTo>
                  <a:lnTo>
                    <a:pt x="95376" y="0"/>
                  </a:lnTo>
                  <a:lnTo>
                    <a:pt x="3569716" y="0"/>
                  </a:lnTo>
                  <a:lnTo>
                    <a:pt x="3606780" y="7489"/>
                  </a:lnTo>
                  <a:lnTo>
                    <a:pt x="3637057" y="27908"/>
                  </a:lnTo>
                  <a:lnTo>
                    <a:pt x="3657476" y="58185"/>
                  </a:lnTo>
                  <a:lnTo>
                    <a:pt x="3664966" y="95250"/>
                  </a:lnTo>
                  <a:lnTo>
                    <a:pt x="3664966" y="1998472"/>
                  </a:lnTo>
                  <a:lnTo>
                    <a:pt x="3657476" y="2035536"/>
                  </a:lnTo>
                  <a:lnTo>
                    <a:pt x="3637057" y="2065813"/>
                  </a:lnTo>
                  <a:lnTo>
                    <a:pt x="3606780" y="2086232"/>
                  </a:lnTo>
                  <a:lnTo>
                    <a:pt x="3569716" y="2093722"/>
                  </a:lnTo>
                  <a:lnTo>
                    <a:pt x="95376" y="2093722"/>
                  </a:lnTo>
                  <a:lnTo>
                    <a:pt x="58239" y="2086232"/>
                  </a:lnTo>
                  <a:lnTo>
                    <a:pt x="27924" y="2065813"/>
                  </a:lnTo>
                  <a:lnTo>
                    <a:pt x="7491" y="2035536"/>
                  </a:lnTo>
                  <a:lnTo>
                    <a:pt x="0" y="1998472"/>
                  </a:lnTo>
                  <a:lnTo>
                    <a:pt x="0" y="95250"/>
                  </a:lnTo>
                  <a:close/>
                </a:path>
              </a:pathLst>
            </a:custGeom>
            <a:ln w="30480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0417302" y="3027933"/>
            <a:ext cx="2553335" cy="1586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Methods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-20" dirty="0">
                <a:solidFill>
                  <a:srgbClr val="E4DFDF"/>
                </a:solidFill>
                <a:latin typeface="Trebuchet MS"/>
                <a:cs typeface="Trebuchet MS"/>
              </a:rPr>
              <a:t>Usually</a:t>
            </a:r>
            <a:r>
              <a:rPr sz="1750" spc="-8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done</a:t>
            </a:r>
            <a:r>
              <a:rPr sz="1750" spc="-8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0" dirty="0">
                <a:solidFill>
                  <a:srgbClr val="E4DFDF"/>
                </a:solidFill>
                <a:latin typeface="Trebuchet MS"/>
                <a:cs typeface="Trebuchet MS"/>
              </a:rPr>
              <a:t>through</a:t>
            </a:r>
            <a:r>
              <a:rPr sz="1750" spc="-7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E4DFDF"/>
                </a:solidFill>
                <a:latin typeface="Trebuchet MS"/>
                <a:cs typeface="Trebuchet MS"/>
              </a:rPr>
              <a:t>fake </a:t>
            </a:r>
            <a:r>
              <a:rPr sz="1750" spc="-60" dirty="0">
                <a:solidFill>
                  <a:srgbClr val="E4DFDF"/>
                </a:solidFill>
                <a:latin typeface="Trebuchet MS"/>
                <a:cs typeface="Trebuchet MS"/>
              </a:rPr>
              <a:t>emails,</a:t>
            </a:r>
            <a:r>
              <a:rPr sz="1750" spc="-12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55" dirty="0">
                <a:solidFill>
                  <a:srgbClr val="E4DFDF"/>
                </a:solidFill>
                <a:latin typeface="Trebuchet MS"/>
                <a:cs typeface="Trebuchet MS"/>
              </a:rPr>
              <a:t>websites,</a:t>
            </a:r>
            <a:r>
              <a:rPr sz="1750" spc="-10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30" dirty="0">
                <a:solidFill>
                  <a:srgbClr val="E4DFDF"/>
                </a:solidFill>
                <a:latin typeface="Trebuchet MS"/>
                <a:cs typeface="Trebuchet MS"/>
              </a:rPr>
              <a:t>or</a:t>
            </a:r>
            <a:r>
              <a:rPr sz="1750" spc="-11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0" dirty="0">
                <a:solidFill>
                  <a:srgbClr val="E4DFDF"/>
                </a:solidFill>
                <a:latin typeface="Trebuchet MS"/>
                <a:cs typeface="Trebuchet MS"/>
              </a:rPr>
              <a:t>text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messages.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64909" y="5100320"/>
            <a:ext cx="7586980" cy="1398905"/>
            <a:chOff x="6264909" y="5100320"/>
            <a:chExt cx="7586980" cy="1398905"/>
          </a:xfrm>
        </p:grpSpPr>
        <p:sp>
          <p:nvSpPr>
            <p:cNvPr id="13" name="object 13"/>
            <p:cNvSpPr/>
            <p:nvPr/>
          </p:nvSpPr>
          <p:spPr>
            <a:xfrm>
              <a:off x="6280149" y="5115560"/>
              <a:ext cx="7556500" cy="1368425"/>
            </a:xfrm>
            <a:custGeom>
              <a:avLst/>
              <a:gdLst/>
              <a:ahLst/>
              <a:cxnLst/>
              <a:rect l="l" t="t" r="r" b="b"/>
              <a:pathLst>
                <a:path w="7556500" h="1368425">
                  <a:moveTo>
                    <a:pt x="7461250" y="0"/>
                  </a:moveTo>
                  <a:lnTo>
                    <a:pt x="95250" y="0"/>
                  </a:lnTo>
                  <a:lnTo>
                    <a:pt x="58185" y="7489"/>
                  </a:lnTo>
                  <a:lnTo>
                    <a:pt x="27908" y="27908"/>
                  </a:lnTo>
                  <a:lnTo>
                    <a:pt x="7489" y="58185"/>
                  </a:lnTo>
                  <a:lnTo>
                    <a:pt x="0" y="95250"/>
                  </a:lnTo>
                  <a:lnTo>
                    <a:pt x="0" y="1272539"/>
                  </a:lnTo>
                  <a:lnTo>
                    <a:pt x="7489" y="1309677"/>
                  </a:lnTo>
                  <a:lnTo>
                    <a:pt x="27908" y="1339992"/>
                  </a:lnTo>
                  <a:lnTo>
                    <a:pt x="58185" y="1360425"/>
                  </a:lnTo>
                  <a:lnTo>
                    <a:pt x="95250" y="1367916"/>
                  </a:lnTo>
                  <a:lnTo>
                    <a:pt x="7461250" y="1367916"/>
                  </a:lnTo>
                  <a:lnTo>
                    <a:pt x="7498314" y="1360425"/>
                  </a:lnTo>
                  <a:lnTo>
                    <a:pt x="7528591" y="1339992"/>
                  </a:lnTo>
                  <a:lnTo>
                    <a:pt x="7549010" y="1309677"/>
                  </a:lnTo>
                  <a:lnTo>
                    <a:pt x="7556500" y="1272539"/>
                  </a:lnTo>
                  <a:lnTo>
                    <a:pt x="7556500" y="95250"/>
                  </a:lnTo>
                  <a:lnTo>
                    <a:pt x="7549010" y="58185"/>
                  </a:lnTo>
                  <a:lnTo>
                    <a:pt x="7528591" y="27908"/>
                  </a:lnTo>
                  <a:lnTo>
                    <a:pt x="7498314" y="7489"/>
                  </a:lnTo>
                  <a:lnTo>
                    <a:pt x="7461250" y="0"/>
                  </a:lnTo>
                  <a:close/>
                </a:path>
              </a:pathLst>
            </a:custGeom>
            <a:solidFill>
              <a:srgbClr val="0404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280149" y="5115560"/>
              <a:ext cx="7556500" cy="1368425"/>
            </a:xfrm>
            <a:custGeom>
              <a:avLst/>
              <a:gdLst/>
              <a:ahLst/>
              <a:cxnLst/>
              <a:rect l="l" t="t" r="r" b="b"/>
              <a:pathLst>
                <a:path w="7556500" h="1368425">
                  <a:moveTo>
                    <a:pt x="0" y="95250"/>
                  </a:moveTo>
                  <a:lnTo>
                    <a:pt x="7489" y="58185"/>
                  </a:lnTo>
                  <a:lnTo>
                    <a:pt x="27908" y="27908"/>
                  </a:lnTo>
                  <a:lnTo>
                    <a:pt x="58185" y="7489"/>
                  </a:lnTo>
                  <a:lnTo>
                    <a:pt x="95250" y="0"/>
                  </a:lnTo>
                  <a:lnTo>
                    <a:pt x="7461250" y="0"/>
                  </a:lnTo>
                  <a:lnTo>
                    <a:pt x="7498314" y="7489"/>
                  </a:lnTo>
                  <a:lnTo>
                    <a:pt x="7528591" y="27908"/>
                  </a:lnTo>
                  <a:lnTo>
                    <a:pt x="7549010" y="58185"/>
                  </a:lnTo>
                  <a:lnTo>
                    <a:pt x="7556500" y="95250"/>
                  </a:lnTo>
                  <a:lnTo>
                    <a:pt x="7556500" y="1272539"/>
                  </a:lnTo>
                  <a:lnTo>
                    <a:pt x="7549010" y="1309677"/>
                  </a:lnTo>
                  <a:lnTo>
                    <a:pt x="7528591" y="1339992"/>
                  </a:lnTo>
                  <a:lnTo>
                    <a:pt x="7498314" y="1360425"/>
                  </a:lnTo>
                  <a:lnTo>
                    <a:pt x="7461250" y="1367916"/>
                  </a:lnTo>
                  <a:lnTo>
                    <a:pt x="95250" y="1367916"/>
                  </a:lnTo>
                  <a:lnTo>
                    <a:pt x="58185" y="1360425"/>
                  </a:lnTo>
                  <a:lnTo>
                    <a:pt x="27908" y="1339992"/>
                  </a:lnTo>
                  <a:lnTo>
                    <a:pt x="7489" y="1309677"/>
                  </a:lnTo>
                  <a:lnTo>
                    <a:pt x="0" y="1272539"/>
                  </a:lnTo>
                  <a:lnTo>
                    <a:pt x="0" y="95250"/>
                  </a:lnTo>
                  <a:close/>
                </a:path>
              </a:pathLst>
            </a:custGeom>
            <a:ln w="30479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525259" y="5348985"/>
            <a:ext cx="4431665" cy="8489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Example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"Your</a:t>
            </a:r>
            <a:r>
              <a:rPr sz="17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account</a:t>
            </a:r>
            <a:r>
              <a:rPr sz="1750" spc="-8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is</a:t>
            </a:r>
            <a:r>
              <a:rPr sz="1750" spc="-7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30" dirty="0">
                <a:solidFill>
                  <a:srgbClr val="E4DFDF"/>
                </a:solidFill>
                <a:latin typeface="Trebuchet MS"/>
                <a:cs typeface="Trebuchet MS"/>
              </a:rPr>
              <a:t>locked</a:t>
            </a:r>
            <a:r>
              <a:rPr sz="1750" spc="-14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50" dirty="0">
                <a:solidFill>
                  <a:srgbClr val="E4DFDF"/>
                </a:solidFill>
                <a:latin typeface="Trebuchet MS"/>
                <a:cs typeface="Trebuchet MS"/>
              </a:rPr>
              <a:t>—</a:t>
            </a:r>
            <a:r>
              <a:rPr sz="1750" spc="-8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45" dirty="0">
                <a:solidFill>
                  <a:srgbClr val="E4DFDF"/>
                </a:solidFill>
                <a:latin typeface="Trebuchet MS"/>
                <a:cs typeface="Trebuchet MS"/>
              </a:rPr>
              <a:t>click</a:t>
            </a:r>
            <a:r>
              <a:rPr sz="1750" spc="-9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55" dirty="0">
                <a:solidFill>
                  <a:srgbClr val="E4DFDF"/>
                </a:solidFill>
                <a:latin typeface="Trebuchet MS"/>
                <a:cs typeface="Trebuchet MS"/>
              </a:rPr>
              <a:t>here</a:t>
            </a:r>
            <a:r>
              <a:rPr sz="1750" spc="-10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55" dirty="0">
                <a:solidFill>
                  <a:srgbClr val="E4DFDF"/>
                </a:solidFill>
                <a:latin typeface="Trebuchet MS"/>
                <a:cs typeface="Trebuchet MS"/>
              </a:rPr>
              <a:t>to</a:t>
            </a:r>
            <a:r>
              <a:rPr sz="1750" spc="-8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55" dirty="0">
                <a:solidFill>
                  <a:srgbClr val="E4DFDF"/>
                </a:solidFill>
                <a:latin typeface="Trebuchet MS"/>
                <a:cs typeface="Trebuchet MS"/>
              </a:rPr>
              <a:t>verify."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32866" y="465835"/>
            <a:ext cx="3909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/>
              <a:t>Types</a:t>
            </a:r>
            <a:r>
              <a:rPr sz="3600" spc="-170" dirty="0"/>
              <a:t> </a:t>
            </a:r>
            <a:r>
              <a:rPr sz="3600" dirty="0"/>
              <a:t>of</a:t>
            </a:r>
            <a:r>
              <a:rPr sz="3600" spc="-170" dirty="0"/>
              <a:t> </a:t>
            </a:r>
            <a:r>
              <a:rPr sz="3600" spc="-10" dirty="0"/>
              <a:t>Phishing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634123" y="1441069"/>
            <a:ext cx="13362305" cy="1131570"/>
            <a:chOff x="634123" y="1441069"/>
            <a:chExt cx="13362305" cy="1131570"/>
          </a:xfrm>
        </p:grpSpPr>
        <p:sp>
          <p:nvSpPr>
            <p:cNvPr id="4" name="object 4"/>
            <p:cNvSpPr/>
            <p:nvPr/>
          </p:nvSpPr>
          <p:spPr>
            <a:xfrm>
              <a:off x="645553" y="1452499"/>
              <a:ext cx="13339444" cy="1108710"/>
            </a:xfrm>
            <a:custGeom>
              <a:avLst/>
              <a:gdLst/>
              <a:ahLst/>
              <a:cxnLst/>
              <a:rect l="l" t="t" r="r" b="b"/>
              <a:pathLst>
                <a:path w="13339444" h="1108710">
                  <a:moveTo>
                    <a:pt x="13261835" y="0"/>
                  </a:moveTo>
                  <a:lnTo>
                    <a:pt x="77482" y="0"/>
                  </a:lnTo>
                  <a:lnTo>
                    <a:pt x="47325" y="6086"/>
                  </a:lnTo>
                  <a:lnTo>
                    <a:pt x="22696" y="22685"/>
                  </a:lnTo>
                  <a:lnTo>
                    <a:pt x="6089" y="47309"/>
                  </a:lnTo>
                  <a:lnTo>
                    <a:pt x="0" y="77470"/>
                  </a:lnTo>
                  <a:lnTo>
                    <a:pt x="0" y="1030986"/>
                  </a:lnTo>
                  <a:lnTo>
                    <a:pt x="6089" y="1061146"/>
                  </a:lnTo>
                  <a:lnTo>
                    <a:pt x="22696" y="1085770"/>
                  </a:lnTo>
                  <a:lnTo>
                    <a:pt x="47325" y="1102369"/>
                  </a:lnTo>
                  <a:lnTo>
                    <a:pt x="77482" y="1108455"/>
                  </a:lnTo>
                  <a:lnTo>
                    <a:pt x="13261835" y="1108455"/>
                  </a:lnTo>
                  <a:lnTo>
                    <a:pt x="13291995" y="1102369"/>
                  </a:lnTo>
                  <a:lnTo>
                    <a:pt x="13316619" y="1085770"/>
                  </a:lnTo>
                  <a:lnTo>
                    <a:pt x="13333219" y="1061146"/>
                  </a:lnTo>
                  <a:lnTo>
                    <a:pt x="13339305" y="1030986"/>
                  </a:lnTo>
                  <a:lnTo>
                    <a:pt x="13339305" y="77470"/>
                  </a:lnTo>
                  <a:lnTo>
                    <a:pt x="13333219" y="47309"/>
                  </a:lnTo>
                  <a:lnTo>
                    <a:pt x="13316619" y="22685"/>
                  </a:lnTo>
                  <a:lnTo>
                    <a:pt x="13291995" y="6086"/>
                  </a:lnTo>
                  <a:lnTo>
                    <a:pt x="13261835" y="0"/>
                  </a:lnTo>
                  <a:close/>
                </a:path>
              </a:pathLst>
            </a:custGeom>
            <a:solidFill>
              <a:srgbClr val="0404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5553" y="1452499"/>
              <a:ext cx="13339444" cy="1108710"/>
            </a:xfrm>
            <a:custGeom>
              <a:avLst/>
              <a:gdLst/>
              <a:ahLst/>
              <a:cxnLst/>
              <a:rect l="l" t="t" r="r" b="b"/>
              <a:pathLst>
                <a:path w="13339444" h="1108710">
                  <a:moveTo>
                    <a:pt x="0" y="77470"/>
                  </a:moveTo>
                  <a:lnTo>
                    <a:pt x="6089" y="47309"/>
                  </a:lnTo>
                  <a:lnTo>
                    <a:pt x="22696" y="22685"/>
                  </a:lnTo>
                  <a:lnTo>
                    <a:pt x="47325" y="6086"/>
                  </a:lnTo>
                  <a:lnTo>
                    <a:pt x="77482" y="0"/>
                  </a:lnTo>
                  <a:lnTo>
                    <a:pt x="13261835" y="0"/>
                  </a:lnTo>
                  <a:lnTo>
                    <a:pt x="13291995" y="6086"/>
                  </a:lnTo>
                  <a:lnTo>
                    <a:pt x="13316619" y="22685"/>
                  </a:lnTo>
                  <a:lnTo>
                    <a:pt x="13333219" y="47309"/>
                  </a:lnTo>
                  <a:lnTo>
                    <a:pt x="13339305" y="77470"/>
                  </a:lnTo>
                  <a:lnTo>
                    <a:pt x="13339305" y="1030986"/>
                  </a:lnTo>
                  <a:lnTo>
                    <a:pt x="13333219" y="1061146"/>
                  </a:lnTo>
                  <a:lnTo>
                    <a:pt x="13316619" y="1085770"/>
                  </a:lnTo>
                  <a:lnTo>
                    <a:pt x="13291995" y="1102369"/>
                  </a:lnTo>
                  <a:lnTo>
                    <a:pt x="13261835" y="1108455"/>
                  </a:lnTo>
                  <a:lnTo>
                    <a:pt x="77482" y="1108455"/>
                  </a:lnTo>
                  <a:lnTo>
                    <a:pt x="47325" y="1102369"/>
                  </a:lnTo>
                  <a:lnTo>
                    <a:pt x="22696" y="1085770"/>
                  </a:lnTo>
                  <a:lnTo>
                    <a:pt x="6089" y="1061146"/>
                  </a:lnTo>
                  <a:lnTo>
                    <a:pt x="0" y="1030986"/>
                  </a:lnTo>
                  <a:lnTo>
                    <a:pt x="0" y="77470"/>
                  </a:lnTo>
                  <a:close/>
                </a:path>
              </a:pathLst>
            </a:custGeom>
            <a:ln w="22860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8413" y="1475359"/>
              <a:ext cx="737870" cy="1062990"/>
            </a:xfrm>
            <a:custGeom>
              <a:avLst/>
              <a:gdLst/>
              <a:ahLst/>
              <a:cxnLst/>
              <a:rect l="l" t="t" r="r" b="b"/>
              <a:pathLst>
                <a:path w="737869" h="1062989">
                  <a:moveTo>
                    <a:pt x="687819" y="0"/>
                  </a:moveTo>
                  <a:lnTo>
                    <a:pt x="50037" y="0"/>
                  </a:lnTo>
                  <a:lnTo>
                    <a:pt x="30560" y="3925"/>
                  </a:lnTo>
                  <a:lnTo>
                    <a:pt x="14655" y="14636"/>
                  </a:lnTo>
                  <a:lnTo>
                    <a:pt x="3932" y="30539"/>
                  </a:lnTo>
                  <a:lnTo>
                    <a:pt x="0" y="50038"/>
                  </a:lnTo>
                  <a:lnTo>
                    <a:pt x="0" y="1012698"/>
                  </a:lnTo>
                  <a:lnTo>
                    <a:pt x="3932" y="1032142"/>
                  </a:lnTo>
                  <a:lnTo>
                    <a:pt x="14655" y="1048051"/>
                  </a:lnTo>
                  <a:lnTo>
                    <a:pt x="30560" y="1058793"/>
                  </a:lnTo>
                  <a:lnTo>
                    <a:pt x="50037" y="1062736"/>
                  </a:lnTo>
                  <a:lnTo>
                    <a:pt x="687819" y="1062736"/>
                  </a:lnTo>
                  <a:lnTo>
                    <a:pt x="707264" y="1058793"/>
                  </a:lnTo>
                  <a:lnTo>
                    <a:pt x="723172" y="1048051"/>
                  </a:lnTo>
                  <a:lnTo>
                    <a:pt x="733914" y="1032142"/>
                  </a:lnTo>
                  <a:lnTo>
                    <a:pt x="737857" y="1012698"/>
                  </a:lnTo>
                  <a:lnTo>
                    <a:pt x="737857" y="50038"/>
                  </a:lnTo>
                  <a:lnTo>
                    <a:pt x="733914" y="30539"/>
                  </a:lnTo>
                  <a:lnTo>
                    <a:pt x="723172" y="14636"/>
                  </a:lnTo>
                  <a:lnTo>
                    <a:pt x="707264" y="3925"/>
                  </a:lnTo>
                  <a:lnTo>
                    <a:pt x="687819" y="0"/>
                  </a:lnTo>
                  <a:close/>
                </a:path>
              </a:pathLst>
            </a:custGeom>
            <a:solidFill>
              <a:srgbClr val="3C3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82497" y="1759076"/>
            <a:ext cx="10541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790" dirty="0">
                <a:solidFill>
                  <a:srgbClr val="E4DFDF"/>
                </a:solidFill>
                <a:latin typeface="Lucida Sans Unicode"/>
                <a:cs typeface="Lucida Sans Unicode"/>
              </a:rPr>
              <a:t>1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78102" y="1637741"/>
            <a:ext cx="2366010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4DFDF"/>
                </a:solidFill>
                <a:latin typeface="Lucida Sans Unicode"/>
                <a:cs typeface="Lucida Sans Unicode"/>
              </a:rPr>
              <a:t>Email</a:t>
            </a:r>
            <a:r>
              <a:rPr sz="1800" spc="-6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Phishing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450" spc="-10" dirty="0">
                <a:solidFill>
                  <a:srgbClr val="E4DFDF"/>
                </a:solidFill>
                <a:latin typeface="Trebuchet MS"/>
                <a:cs typeface="Trebuchet MS"/>
              </a:rPr>
              <a:t>Fake</a:t>
            </a:r>
            <a:r>
              <a:rPr sz="14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E4DFDF"/>
                </a:solidFill>
                <a:latin typeface="Trebuchet MS"/>
                <a:cs typeface="Trebuchet MS"/>
              </a:rPr>
              <a:t>emails</a:t>
            </a:r>
            <a:r>
              <a:rPr sz="1450" spc="-8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-55" dirty="0">
                <a:solidFill>
                  <a:srgbClr val="E4DFDF"/>
                </a:solidFill>
                <a:latin typeface="Trebuchet MS"/>
                <a:cs typeface="Trebuchet MS"/>
              </a:rPr>
              <a:t>that</a:t>
            </a:r>
            <a:r>
              <a:rPr sz="1450" spc="-7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E4DFDF"/>
                </a:solidFill>
                <a:latin typeface="Trebuchet MS"/>
                <a:cs typeface="Trebuchet MS"/>
              </a:rPr>
              <a:t>look</a:t>
            </a:r>
            <a:r>
              <a:rPr sz="1450" spc="-8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-45" dirty="0">
                <a:solidFill>
                  <a:srgbClr val="E4DFDF"/>
                </a:solidFill>
                <a:latin typeface="Trebuchet MS"/>
                <a:cs typeface="Trebuchet MS"/>
              </a:rPr>
              <a:t>official.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34123" y="2733929"/>
            <a:ext cx="13362305" cy="1131570"/>
            <a:chOff x="634123" y="2733929"/>
            <a:chExt cx="13362305" cy="1131570"/>
          </a:xfrm>
        </p:grpSpPr>
        <p:sp>
          <p:nvSpPr>
            <p:cNvPr id="10" name="object 10"/>
            <p:cNvSpPr/>
            <p:nvPr/>
          </p:nvSpPr>
          <p:spPr>
            <a:xfrm>
              <a:off x="645553" y="2745359"/>
              <a:ext cx="13339444" cy="1108710"/>
            </a:xfrm>
            <a:custGeom>
              <a:avLst/>
              <a:gdLst/>
              <a:ahLst/>
              <a:cxnLst/>
              <a:rect l="l" t="t" r="r" b="b"/>
              <a:pathLst>
                <a:path w="13339444" h="1108710">
                  <a:moveTo>
                    <a:pt x="13261835" y="0"/>
                  </a:moveTo>
                  <a:lnTo>
                    <a:pt x="77482" y="0"/>
                  </a:lnTo>
                  <a:lnTo>
                    <a:pt x="47325" y="6086"/>
                  </a:lnTo>
                  <a:lnTo>
                    <a:pt x="22696" y="22685"/>
                  </a:lnTo>
                  <a:lnTo>
                    <a:pt x="6089" y="47309"/>
                  </a:lnTo>
                  <a:lnTo>
                    <a:pt x="0" y="77469"/>
                  </a:lnTo>
                  <a:lnTo>
                    <a:pt x="0" y="1030986"/>
                  </a:lnTo>
                  <a:lnTo>
                    <a:pt x="6089" y="1061146"/>
                  </a:lnTo>
                  <a:lnTo>
                    <a:pt x="22696" y="1085770"/>
                  </a:lnTo>
                  <a:lnTo>
                    <a:pt x="47325" y="1102369"/>
                  </a:lnTo>
                  <a:lnTo>
                    <a:pt x="77482" y="1108455"/>
                  </a:lnTo>
                  <a:lnTo>
                    <a:pt x="13261835" y="1108455"/>
                  </a:lnTo>
                  <a:lnTo>
                    <a:pt x="13291995" y="1102369"/>
                  </a:lnTo>
                  <a:lnTo>
                    <a:pt x="13316619" y="1085770"/>
                  </a:lnTo>
                  <a:lnTo>
                    <a:pt x="13333219" y="1061146"/>
                  </a:lnTo>
                  <a:lnTo>
                    <a:pt x="13339305" y="1030986"/>
                  </a:lnTo>
                  <a:lnTo>
                    <a:pt x="13339305" y="77469"/>
                  </a:lnTo>
                  <a:lnTo>
                    <a:pt x="13333219" y="47309"/>
                  </a:lnTo>
                  <a:lnTo>
                    <a:pt x="13316619" y="22685"/>
                  </a:lnTo>
                  <a:lnTo>
                    <a:pt x="13291995" y="6086"/>
                  </a:lnTo>
                  <a:lnTo>
                    <a:pt x="13261835" y="0"/>
                  </a:lnTo>
                  <a:close/>
                </a:path>
              </a:pathLst>
            </a:custGeom>
            <a:solidFill>
              <a:srgbClr val="0404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5553" y="2745359"/>
              <a:ext cx="13339444" cy="1108710"/>
            </a:xfrm>
            <a:custGeom>
              <a:avLst/>
              <a:gdLst/>
              <a:ahLst/>
              <a:cxnLst/>
              <a:rect l="l" t="t" r="r" b="b"/>
              <a:pathLst>
                <a:path w="13339444" h="1108710">
                  <a:moveTo>
                    <a:pt x="0" y="77469"/>
                  </a:moveTo>
                  <a:lnTo>
                    <a:pt x="6089" y="47309"/>
                  </a:lnTo>
                  <a:lnTo>
                    <a:pt x="22696" y="22685"/>
                  </a:lnTo>
                  <a:lnTo>
                    <a:pt x="47325" y="6086"/>
                  </a:lnTo>
                  <a:lnTo>
                    <a:pt x="77482" y="0"/>
                  </a:lnTo>
                  <a:lnTo>
                    <a:pt x="13261835" y="0"/>
                  </a:lnTo>
                  <a:lnTo>
                    <a:pt x="13291995" y="6086"/>
                  </a:lnTo>
                  <a:lnTo>
                    <a:pt x="13316619" y="22685"/>
                  </a:lnTo>
                  <a:lnTo>
                    <a:pt x="13333219" y="47309"/>
                  </a:lnTo>
                  <a:lnTo>
                    <a:pt x="13339305" y="77469"/>
                  </a:lnTo>
                  <a:lnTo>
                    <a:pt x="13339305" y="1030986"/>
                  </a:lnTo>
                  <a:lnTo>
                    <a:pt x="13333219" y="1061146"/>
                  </a:lnTo>
                  <a:lnTo>
                    <a:pt x="13316619" y="1085770"/>
                  </a:lnTo>
                  <a:lnTo>
                    <a:pt x="13291995" y="1102369"/>
                  </a:lnTo>
                  <a:lnTo>
                    <a:pt x="13261835" y="1108455"/>
                  </a:lnTo>
                  <a:lnTo>
                    <a:pt x="77482" y="1108455"/>
                  </a:lnTo>
                  <a:lnTo>
                    <a:pt x="47325" y="1102369"/>
                  </a:lnTo>
                  <a:lnTo>
                    <a:pt x="22696" y="1085770"/>
                  </a:lnTo>
                  <a:lnTo>
                    <a:pt x="6089" y="1061146"/>
                  </a:lnTo>
                  <a:lnTo>
                    <a:pt x="0" y="1030986"/>
                  </a:lnTo>
                  <a:lnTo>
                    <a:pt x="0" y="77469"/>
                  </a:lnTo>
                  <a:close/>
                </a:path>
              </a:pathLst>
            </a:custGeom>
            <a:ln w="22860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68413" y="2768219"/>
              <a:ext cx="737870" cy="1062990"/>
            </a:xfrm>
            <a:custGeom>
              <a:avLst/>
              <a:gdLst/>
              <a:ahLst/>
              <a:cxnLst/>
              <a:rect l="l" t="t" r="r" b="b"/>
              <a:pathLst>
                <a:path w="737869" h="1062989">
                  <a:moveTo>
                    <a:pt x="687819" y="0"/>
                  </a:moveTo>
                  <a:lnTo>
                    <a:pt x="50037" y="0"/>
                  </a:lnTo>
                  <a:lnTo>
                    <a:pt x="30560" y="3925"/>
                  </a:lnTo>
                  <a:lnTo>
                    <a:pt x="14655" y="14636"/>
                  </a:lnTo>
                  <a:lnTo>
                    <a:pt x="3932" y="30539"/>
                  </a:lnTo>
                  <a:lnTo>
                    <a:pt x="0" y="50037"/>
                  </a:lnTo>
                  <a:lnTo>
                    <a:pt x="0" y="1012697"/>
                  </a:lnTo>
                  <a:lnTo>
                    <a:pt x="3932" y="1032196"/>
                  </a:lnTo>
                  <a:lnTo>
                    <a:pt x="14655" y="1048099"/>
                  </a:lnTo>
                  <a:lnTo>
                    <a:pt x="30560" y="1058810"/>
                  </a:lnTo>
                  <a:lnTo>
                    <a:pt x="50037" y="1062735"/>
                  </a:lnTo>
                  <a:lnTo>
                    <a:pt x="687819" y="1062735"/>
                  </a:lnTo>
                  <a:lnTo>
                    <a:pt x="707264" y="1058810"/>
                  </a:lnTo>
                  <a:lnTo>
                    <a:pt x="723172" y="1048099"/>
                  </a:lnTo>
                  <a:lnTo>
                    <a:pt x="733914" y="1032196"/>
                  </a:lnTo>
                  <a:lnTo>
                    <a:pt x="737857" y="1012697"/>
                  </a:lnTo>
                  <a:lnTo>
                    <a:pt x="737857" y="50037"/>
                  </a:lnTo>
                  <a:lnTo>
                    <a:pt x="733914" y="30539"/>
                  </a:lnTo>
                  <a:lnTo>
                    <a:pt x="723172" y="14636"/>
                  </a:lnTo>
                  <a:lnTo>
                    <a:pt x="707264" y="3925"/>
                  </a:lnTo>
                  <a:lnTo>
                    <a:pt x="687819" y="0"/>
                  </a:lnTo>
                  <a:close/>
                </a:path>
              </a:pathLst>
            </a:custGeom>
            <a:solidFill>
              <a:srgbClr val="3C3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82497" y="3052063"/>
            <a:ext cx="18161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90" dirty="0">
                <a:solidFill>
                  <a:srgbClr val="E4DFDF"/>
                </a:solidFill>
                <a:latin typeface="Lucida Sans Unicode"/>
                <a:cs typeface="Lucida Sans Unicode"/>
              </a:rPr>
              <a:t>2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78102" y="2931414"/>
            <a:ext cx="2932430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0" dirty="0">
                <a:solidFill>
                  <a:srgbClr val="E4DFDF"/>
                </a:solidFill>
                <a:latin typeface="Lucida Sans Unicode"/>
                <a:cs typeface="Lucida Sans Unicode"/>
              </a:rPr>
              <a:t>Spear</a:t>
            </a:r>
            <a:r>
              <a:rPr sz="1800" spc="-8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Phishing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450" spc="-30" dirty="0">
                <a:solidFill>
                  <a:srgbClr val="E4DFDF"/>
                </a:solidFill>
                <a:latin typeface="Trebuchet MS"/>
                <a:cs typeface="Trebuchet MS"/>
              </a:rPr>
              <a:t>Targeted</a:t>
            </a:r>
            <a:r>
              <a:rPr sz="1450" spc="-10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E4DFDF"/>
                </a:solidFill>
                <a:latin typeface="Trebuchet MS"/>
                <a:cs typeface="Trebuchet MS"/>
              </a:rPr>
              <a:t>attacks</a:t>
            </a:r>
            <a:r>
              <a:rPr sz="1450" spc="-7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E4DFDF"/>
                </a:solidFill>
                <a:latin typeface="Trebuchet MS"/>
                <a:cs typeface="Trebuchet MS"/>
              </a:rPr>
              <a:t>on</a:t>
            </a:r>
            <a:r>
              <a:rPr sz="1450" spc="-7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E4DFDF"/>
                </a:solidFill>
                <a:latin typeface="Trebuchet MS"/>
                <a:cs typeface="Trebuchet MS"/>
              </a:rPr>
              <a:t>specific</a:t>
            </a:r>
            <a:r>
              <a:rPr sz="1450" spc="-6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-30" dirty="0">
                <a:solidFill>
                  <a:srgbClr val="E4DFDF"/>
                </a:solidFill>
                <a:latin typeface="Trebuchet MS"/>
                <a:cs typeface="Trebuchet MS"/>
              </a:rPr>
              <a:t>people.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4123" y="4026789"/>
            <a:ext cx="13362305" cy="1131570"/>
            <a:chOff x="634123" y="4026789"/>
            <a:chExt cx="13362305" cy="1131570"/>
          </a:xfrm>
        </p:grpSpPr>
        <p:sp>
          <p:nvSpPr>
            <p:cNvPr id="16" name="object 16"/>
            <p:cNvSpPr/>
            <p:nvPr/>
          </p:nvSpPr>
          <p:spPr>
            <a:xfrm>
              <a:off x="645553" y="4038219"/>
              <a:ext cx="13339444" cy="1108710"/>
            </a:xfrm>
            <a:custGeom>
              <a:avLst/>
              <a:gdLst/>
              <a:ahLst/>
              <a:cxnLst/>
              <a:rect l="l" t="t" r="r" b="b"/>
              <a:pathLst>
                <a:path w="13339444" h="1108710">
                  <a:moveTo>
                    <a:pt x="13261835" y="0"/>
                  </a:moveTo>
                  <a:lnTo>
                    <a:pt x="77482" y="0"/>
                  </a:lnTo>
                  <a:lnTo>
                    <a:pt x="47325" y="6086"/>
                  </a:lnTo>
                  <a:lnTo>
                    <a:pt x="22696" y="22685"/>
                  </a:lnTo>
                  <a:lnTo>
                    <a:pt x="6089" y="47309"/>
                  </a:lnTo>
                  <a:lnTo>
                    <a:pt x="0" y="77469"/>
                  </a:lnTo>
                  <a:lnTo>
                    <a:pt x="0" y="1030985"/>
                  </a:lnTo>
                  <a:lnTo>
                    <a:pt x="6089" y="1061146"/>
                  </a:lnTo>
                  <a:lnTo>
                    <a:pt x="22696" y="1085770"/>
                  </a:lnTo>
                  <a:lnTo>
                    <a:pt x="47325" y="1102369"/>
                  </a:lnTo>
                  <a:lnTo>
                    <a:pt x="77482" y="1108455"/>
                  </a:lnTo>
                  <a:lnTo>
                    <a:pt x="13261835" y="1108455"/>
                  </a:lnTo>
                  <a:lnTo>
                    <a:pt x="13291995" y="1102369"/>
                  </a:lnTo>
                  <a:lnTo>
                    <a:pt x="13316619" y="1085770"/>
                  </a:lnTo>
                  <a:lnTo>
                    <a:pt x="13333219" y="1061146"/>
                  </a:lnTo>
                  <a:lnTo>
                    <a:pt x="13339305" y="1030985"/>
                  </a:lnTo>
                  <a:lnTo>
                    <a:pt x="13339305" y="77469"/>
                  </a:lnTo>
                  <a:lnTo>
                    <a:pt x="13333219" y="47309"/>
                  </a:lnTo>
                  <a:lnTo>
                    <a:pt x="13316619" y="22685"/>
                  </a:lnTo>
                  <a:lnTo>
                    <a:pt x="13291995" y="6086"/>
                  </a:lnTo>
                  <a:lnTo>
                    <a:pt x="13261835" y="0"/>
                  </a:lnTo>
                  <a:close/>
                </a:path>
              </a:pathLst>
            </a:custGeom>
            <a:solidFill>
              <a:srgbClr val="0404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5553" y="4038219"/>
              <a:ext cx="13339444" cy="1108710"/>
            </a:xfrm>
            <a:custGeom>
              <a:avLst/>
              <a:gdLst/>
              <a:ahLst/>
              <a:cxnLst/>
              <a:rect l="l" t="t" r="r" b="b"/>
              <a:pathLst>
                <a:path w="13339444" h="1108710">
                  <a:moveTo>
                    <a:pt x="0" y="77469"/>
                  </a:moveTo>
                  <a:lnTo>
                    <a:pt x="6089" y="47309"/>
                  </a:lnTo>
                  <a:lnTo>
                    <a:pt x="22696" y="22685"/>
                  </a:lnTo>
                  <a:lnTo>
                    <a:pt x="47325" y="6086"/>
                  </a:lnTo>
                  <a:lnTo>
                    <a:pt x="77482" y="0"/>
                  </a:lnTo>
                  <a:lnTo>
                    <a:pt x="13261835" y="0"/>
                  </a:lnTo>
                  <a:lnTo>
                    <a:pt x="13291995" y="6086"/>
                  </a:lnTo>
                  <a:lnTo>
                    <a:pt x="13316619" y="22685"/>
                  </a:lnTo>
                  <a:lnTo>
                    <a:pt x="13333219" y="47309"/>
                  </a:lnTo>
                  <a:lnTo>
                    <a:pt x="13339305" y="77469"/>
                  </a:lnTo>
                  <a:lnTo>
                    <a:pt x="13339305" y="1030985"/>
                  </a:lnTo>
                  <a:lnTo>
                    <a:pt x="13333219" y="1061146"/>
                  </a:lnTo>
                  <a:lnTo>
                    <a:pt x="13316619" y="1085770"/>
                  </a:lnTo>
                  <a:lnTo>
                    <a:pt x="13291995" y="1102369"/>
                  </a:lnTo>
                  <a:lnTo>
                    <a:pt x="13261835" y="1108455"/>
                  </a:lnTo>
                  <a:lnTo>
                    <a:pt x="77482" y="1108455"/>
                  </a:lnTo>
                  <a:lnTo>
                    <a:pt x="47325" y="1102369"/>
                  </a:lnTo>
                  <a:lnTo>
                    <a:pt x="22696" y="1085770"/>
                  </a:lnTo>
                  <a:lnTo>
                    <a:pt x="6089" y="1061146"/>
                  </a:lnTo>
                  <a:lnTo>
                    <a:pt x="0" y="1030985"/>
                  </a:lnTo>
                  <a:lnTo>
                    <a:pt x="0" y="77469"/>
                  </a:lnTo>
                  <a:close/>
                </a:path>
              </a:pathLst>
            </a:custGeom>
            <a:ln w="22860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8413" y="4061079"/>
              <a:ext cx="737870" cy="1062990"/>
            </a:xfrm>
            <a:custGeom>
              <a:avLst/>
              <a:gdLst/>
              <a:ahLst/>
              <a:cxnLst/>
              <a:rect l="l" t="t" r="r" b="b"/>
              <a:pathLst>
                <a:path w="737869" h="1062989">
                  <a:moveTo>
                    <a:pt x="687819" y="0"/>
                  </a:moveTo>
                  <a:lnTo>
                    <a:pt x="50037" y="0"/>
                  </a:lnTo>
                  <a:lnTo>
                    <a:pt x="30560" y="3942"/>
                  </a:lnTo>
                  <a:lnTo>
                    <a:pt x="14655" y="14684"/>
                  </a:lnTo>
                  <a:lnTo>
                    <a:pt x="3932" y="30593"/>
                  </a:lnTo>
                  <a:lnTo>
                    <a:pt x="0" y="50037"/>
                  </a:lnTo>
                  <a:lnTo>
                    <a:pt x="0" y="1012698"/>
                  </a:lnTo>
                  <a:lnTo>
                    <a:pt x="3932" y="1032196"/>
                  </a:lnTo>
                  <a:lnTo>
                    <a:pt x="14655" y="1048099"/>
                  </a:lnTo>
                  <a:lnTo>
                    <a:pt x="30560" y="1058810"/>
                  </a:lnTo>
                  <a:lnTo>
                    <a:pt x="50037" y="1062736"/>
                  </a:lnTo>
                  <a:lnTo>
                    <a:pt x="687819" y="1062736"/>
                  </a:lnTo>
                  <a:lnTo>
                    <a:pt x="707264" y="1058810"/>
                  </a:lnTo>
                  <a:lnTo>
                    <a:pt x="723172" y="1048099"/>
                  </a:lnTo>
                  <a:lnTo>
                    <a:pt x="733914" y="1032196"/>
                  </a:lnTo>
                  <a:lnTo>
                    <a:pt x="737857" y="1012698"/>
                  </a:lnTo>
                  <a:lnTo>
                    <a:pt x="737857" y="50037"/>
                  </a:lnTo>
                  <a:lnTo>
                    <a:pt x="733914" y="30593"/>
                  </a:lnTo>
                  <a:lnTo>
                    <a:pt x="723172" y="14684"/>
                  </a:lnTo>
                  <a:lnTo>
                    <a:pt x="707264" y="3942"/>
                  </a:lnTo>
                  <a:lnTo>
                    <a:pt x="687819" y="0"/>
                  </a:lnTo>
                  <a:close/>
                </a:path>
              </a:pathLst>
            </a:custGeom>
            <a:solidFill>
              <a:srgbClr val="3C3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82497" y="4345304"/>
            <a:ext cx="18542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60" dirty="0">
                <a:solidFill>
                  <a:srgbClr val="E4DFDF"/>
                </a:solidFill>
                <a:latin typeface="Lucida Sans Unicode"/>
                <a:cs typeface="Lucida Sans Unicode"/>
              </a:rPr>
              <a:t>3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78102" y="4224654"/>
            <a:ext cx="2549525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Smishing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450" dirty="0">
                <a:solidFill>
                  <a:srgbClr val="E4DFDF"/>
                </a:solidFill>
                <a:latin typeface="Trebuchet MS"/>
                <a:cs typeface="Trebuchet MS"/>
              </a:rPr>
              <a:t>Phishing</a:t>
            </a:r>
            <a:r>
              <a:rPr sz="1450" spc="-5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-40" dirty="0">
                <a:solidFill>
                  <a:srgbClr val="E4DFDF"/>
                </a:solidFill>
                <a:latin typeface="Trebuchet MS"/>
                <a:cs typeface="Trebuchet MS"/>
              </a:rPr>
              <a:t>via </a:t>
            </a:r>
            <a:r>
              <a:rPr sz="1450" spc="175" dirty="0">
                <a:solidFill>
                  <a:srgbClr val="E4DFDF"/>
                </a:solidFill>
                <a:latin typeface="Trebuchet MS"/>
                <a:cs typeface="Trebuchet MS"/>
              </a:rPr>
              <a:t>SMS</a:t>
            </a:r>
            <a:r>
              <a:rPr sz="1450" spc="-6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E4DFDF"/>
                </a:solidFill>
                <a:latin typeface="Trebuchet MS"/>
                <a:cs typeface="Trebuchet MS"/>
              </a:rPr>
              <a:t>or</a:t>
            </a:r>
            <a:r>
              <a:rPr sz="1450" spc="-6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-10" dirty="0">
                <a:solidFill>
                  <a:srgbClr val="E4DFDF"/>
                </a:solidFill>
                <a:latin typeface="Trebuchet MS"/>
                <a:cs typeface="Trebuchet MS"/>
              </a:rPr>
              <a:t>WhatsApp.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34123" y="5319648"/>
            <a:ext cx="13362305" cy="1131570"/>
            <a:chOff x="634123" y="5319648"/>
            <a:chExt cx="13362305" cy="1131570"/>
          </a:xfrm>
        </p:grpSpPr>
        <p:sp>
          <p:nvSpPr>
            <p:cNvPr id="22" name="object 22"/>
            <p:cNvSpPr/>
            <p:nvPr/>
          </p:nvSpPr>
          <p:spPr>
            <a:xfrm>
              <a:off x="645553" y="5331078"/>
              <a:ext cx="13339444" cy="1108710"/>
            </a:xfrm>
            <a:custGeom>
              <a:avLst/>
              <a:gdLst/>
              <a:ahLst/>
              <a:cxnLst/>
              <a:rect l="l" t="t" r="r" b="b"/>
              <a:pathLst>
                <a:path w="13339444" h="1108710">
                  <a:moveTo>
                    <a:pt x="13261835" y="0"/>
                  </a:moveTo>
                  <a:lnTo>
                    <a:pt x="77482" y="0"/>
                  </a:lnTo>
                  <a:lnTo>
                    <a:pt x="47325" y="6105"/>
                  </a:lnTo>
                  <a:lnTo>
                    <a:pt x="22696" y="22748"/>
                  </a:lnTo>
                  <a:lnTo>
                    <a:pt x="6089" y="47416"/>
                  </a:lnTo>
                  <a:lnTo>
                    <a:pt x="0" y="77597"/>
                  </a:lnTo>
                  <a:lnTo>
                    <a:pt x="0" y="1031113"/>
                  </a:lnTo>
                  <a:lnTo>
                    <a:pt x="6089" y="1061219"/>
                  </a:lnTo>
                  <a:lnTo>
                    <a:pt x="22696" y="1085850"/>
                  </a:lnTo>
                  <a:lnTo>
                    <a:pt x="47325" y="1102479"/>
                  </a:lnTo>
                  <a:lnTo>
                    <a:pt x="77482" y="1108583"/>
                  </a:lnTo>
                  <a:lnTo>
                    <a:pt x="13261835" y="1108583"/>
                  </a:lnTo>
                  <a:lnTo>
                    <a:pt x="13291995" y="1102479"/>
                  </a:lnTo>
                  <a:lnTo>
                    <a:pt x="13316619" y="1085850"/>
                  </a:lnTo>
                  <a:lnTo>
                    <a:pt x="13333219" y="1061219"/>
                  </a:lnTo>
                  <a:lnTo>
                    <a:pt x="13339305" y="1031113"/>
                  </a:lnTo>
                  <a:lnTo>
                    <a:pt x="13339305" y="77597"/>
                  </a:lnTo>
                  <a:lnTo>
                    <a:pt x="13333219" y="47416"/>
                  </a:lnTo>
                  <a:lnTo>
                    <a:pt x="13316619" y="22748"/>
                  </a:lnTo>
                  <a:lnTo>
                    <a:pt x="13291995" y="6105"/>
                  </a:lnTo>
                  <a:lnTo>
                    <a:pt x="13261835" y="0"/>
                  </a:lnTo>
                  <a:close/>
                </a:path>
              </a:pathLst>
            </a:custGeom>
            <a:solidFill>
              <a:srgbClr val="0404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45553" y="5331078"/>
              <a:ext cx="13339444" cy="1108710"/>
            </a:xfrm>
            <a:custGeom>
              <a:avLst/>
              <a:gdLst/>
              <a:ahLst/>
              <a:cxnLst/>
              <a:rect l="l" t="t" r="r" b="b"/>
              <a:pathLst>
                <a:path w="13339444" h="1108710">
                  <a:moveTo>
                    <a:pt x="0" y="77597"/>
                  </a:moveTo>
                  <a:lnTo>
                    <a:pt x="6089" y="47416"/>
                  </a:lnTo>
                  <a:lnTo>
                    <a:pt x="22696" y="22748"/>
                  </a:lnTo>
                  <a:lnTo>
                    <a:pt x="47325" y="6105"/>
                  </a:lnTo>
                  <a:lnTo>
                    <a:pt x="77482" y="0"/>
                  </a:lnTo>
                  <a:lnTo>
                    <a:pt x="13261835" y="0"/>
                  </a:lnTo>
                  <a:lnTo>
                    <a:pt x="13291995" y="6105"/>
                  </a:lnTo>
                  <a:lnTo>
                    <a:pt x="13316619" y="22748"/>
                  </a:lnTo>
                  <a:lnTo>
                    <a:pt x="13333219" y="47416"/>
                  </a:lnTo>
                  <a:lnTo>
                    <a:pt x="13339305" y="77597"/>
                  </a:lnTo>
                  <a:lnTo>
                    <a:pt x="13339305" y="1031113"/>
                  </a:lnTo>
                  <a:lnTo>
                    <a:pt x="13333219" y="1061219"/>
                  </a:lnTo>
                  <a:lnTo>
                    <a:pt x="13316619" y="1085850"/>
                  </a:lnTo>
                  <a:lnTo>
                    <a:pt x="13291995" y="1102479"/>
                  </a:lnTo>
                  <a:lnTo>
                    <a:pt x="13261835" y="1108583"/>
                  </a:lnTo>
                  <a:lnTo>
                    <a:pt x="77482" y="1108583"/>
                  </a:lnTo>
                  <a:lnTo>
                    <a:pt x="47325" y="1102479"/>
                  </a:lnTo>
                  <a:lnTo>
                    <a:pt x="22696" y="1085850"/>
                  </a:lnTo>
                  <a:lnTo>
                    <a:pt x="6089" y="1061219"/>
                  </a:lnTo>
                  <a:lnTo>
                    <a:pt x="0" y="1031113"/>
                  </a:lnTo>
                  <a:lnTo>
                    <a:pt x="0" y="77597"/>
                  </a:lnTo>
                  <a:close/>
                </a:path>
              </a:pathLst>
            </a:custGeom>
            <a:ln w="22859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8413" y="5353938"/>
              <a:ext cx="737870" cy="1062990"/>
            </a:xfrm>
            <a:custGeom>
              <a:avLst/>
              <a:gdLst/>
              <a:ahLst/>
              <a:cxnLst/>
              <a:rect l="l" t="t" r="r" b="b"/>
              <a:pathLst>
                <a:path w="737869" h="1062989">
                  <a:moveTo>
                    <a:pt x="687819" y="0"/>
                  </a:moveTo>
                  <a:lnTo>
                    <a:pt x="50037" y="0"/>
                  </a:lnTo>
                  <a:lnTo>
                    <a:pt x="30560" y="3944"/>
                  </a:lnTo>
                  <a:lnTo>
                    <a:pt x="14655" y="14700"/>
                  </a:lnTo>
                  <a:lnTo>
                    <a:pt x="3932" y="30646"/>
                  </a:lnTo>
                  <a:lnTo>
                    <a:pt x="0" y="50165"/>
                  </a:lnTo>
                  <a:lnTo>
                    <a:pt x="0" y="1012825"/>
                  </a:lnTo>
                  <a:lnTo>
                    <a:pt x="3932" y="1032269"/>
                  </a:lnTo>
                  <a:lnTo>
                    <a:pt x="14655" y="1048178"/>
                  </a:lnTo>
                  <a:lnTo>
                    <a:pt x="30560" y="1058920"/>
                  </a:lnTo>
                  <a:lnTo>
                    <a:pt x="50037" y="1062863"/>
                  </a:lnTo>
                  <a:lnTo>
                    <a:pt x="687819" y="1062863"/>
                  </a:lnTo>
                  <a:lnTo>
                    <a:pt x="707264" y="1058920"/>
                  </a:lnTo>
                  <a:lnTo>
                    <a:pt x="723172" y="1048178"/>
                  </a:lnTo>
                  <a:lnTo>
                    <a:pt x="733914" y="1032269"/>
                  </a:lnTo>
                  <a:lnTo>
                    <a:pt x="737857" y="1012825"/>
                  </a:lnTo>
                  <a:lnTo>
                    <a:pt x="737857" y="50165"/>
                  </a:lnTo>
                  <a:lnTo>
                    <a:pt x="733914" y="30646"/>
                  </a:lnTo>
                  <a:lnTo>
                    <a:pt x="723172" y="14700"/>
                  </a:lnTo>
                  <a:lnTo>
                    <a:pt x="707264" y="3944"/>
                  </a:lnTo>
                  <a:lnTo>
                    <a:pt x="687819" y="0"/>
                  </a:lnTo>
                  <a:close/>
                </a:path>
              </a:pathLst>
            </a:custGeom>
            <a:solidFill>
              <a:srgbClr val="3C3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882497" y="5637987"/>
            <a:ext cx="19304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-50" dirty="0">
                <a:solidFill>
                  <a:srgbClr val="E4DFDF"/>
                </a:solidFill>
                <a:latin typeface="Lucida Sans Unicode"/>
                <a:cs typeface="Lucida Sans Unicode"/>
              </a:rPr>
              <a:t>4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78102" y="5517642"/>
            <a:ext cx="2052955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Vishing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450" dirty="0">
                <a:solidFill>
                  <a:srgbClr val="E4DFDF"/>
                </a:solidFill>
                <a:latin typeface="Trebuchet MS"/>
                <a:cs typeface="Trebuchet MS"/>
              </a:rPr>
              <a:t>Voice</a:t>
            </a:r>
            <a:r>
              <a:rPr sz="1450" spc="-7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E4DFDF"/>
                </a:solidFill>
                <a:latin typeface="Trebuchet MS"/>
                <a:cs typeface="Trebuchet MS"/>
              </a:rPr>
              <a:t>phishing</a:t>
            </a:r>
            <a:r>
              <a:rPr sz="1450" spc="-7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-35" dirty="0">
                <a:solidFill>
                  <a:srgbClr val="E4DFDF"/>
                </a:solidFill>
                <a:latin typeface="Trebuchet MS"/>
                <a:cs typeface="Trebuchet MS"/>
              </a:rPr>
              <a:t>over</a:t>
            </a:r>
            <a:r>
              <a:rPr sz="14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-20" dirty="0">
                <a:solidFill>
                  <a:srgbClr val="E4DFDF"/>
                </a:solidFill>
                <a:latin typeface="Trebuchet MS"/>
                <a:cs typeface="Trebuchet MS"/>
              </a:rPr>
              <a:t>calls.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34123" y="6612635"/>
            <a:ext cx="13362305" cy="1131570"/>
            <a:chOff x="634123" y="6612635"/>
            <a:chExt cx="13362305" cy="1131570"/>
          </a:xfrm>
        </p:grpSpPr>
        <p:sp>
          <p:nvSpPr>
            <p:cNvPr id="28" name="object 28"/>
            <p:cNvSpPr/>
            <p:nvPr/>
          </p:nvSpPr>
          <p:spPr>
            <a:xfrm>
              <a:off x="645553" y="6624065"/>
              <a:ext cx="13339444" cy="1108710"/>
            </a:xfrm>
            <a:custGeom>
              <a:avLst/>
              <a:gdLst/>
              <a:ahLst/>
              <a:cxnLst/>
              <a:rect l="l" t="t" r="r" b="b"/>
              <a:pathLst>
                <a:path w="13339444" h="1108709">
                  <a:moveTo>
                    <a:pt x="13261835" y="0"/>
                  </a:moveTo>
                  <a:lnTo>
                    <a:pt x="77482" y="0"/>
                  </a:lnTo>
                  <a:lnTo>
                    <a:pt x="47325" y="6086"/>
                  </a:lnTo>
                  <a:lnTo>
                    <a:pt x="22696" y="22685"/>
                  </a:lnTo>
                  <a:lnTo>
                    <a:pt x="6089" y="47309"/>
                  </a:lnTo>
                  <a:lnTo>
                    <a:pt x="0" y="77469"/>
                  </a:lnTo>
                  <a:lnTo>
                    <a:pt x="0" y="1030973"/>
                  </a:lnTo>
                  <a:lnTo>
                    <a:pt x="6089" y="1061128"/>
                  </a:lnTo>
                  <a:lnTo>
                    <a:pt x="22696" y="1085753"/>
                  </a:lnTo>
                  <a:lnTo>
                    <a:pt x="47325" y="1102355"/>
                  </a:lnTo>
                  <a:lnTo>
                    <a:pt x="77482" y="1108443"/>
                  </a:lnTo>
                  <a:lnTo>
                    <a:pt x="13261835" y="1108443"/>
                  </a:lnTo>
                  <a:lnTo>
                    <a:pt x="13291995" y="1102355"/>
                  </a:lnTo>
                  <a:lnTo>
                    <a:pt x="13316619" y="1085753"/>
                  </a:lnTo>
                  <a:lnTo>
                    <a:pt x="13333219" y="1061128"/>
                  </a:lnTo>
                  <a:lnTo>
                    <a:pt x="13339305" y="1030973"/>
                  </a:lnTo>
                  <a:lnTo>
                    <a:pt x="13339305" y="77469"/>
                  </a:lnTo>
                  <a:lnTo>
                    <a:pt x="13333219" y="47309"/>
                  </a:lnTo>
                  <a:lnTo>
                    <a:pt x="13316619" y="22685"/>
                  </a:lnTo>
                  <a:lnTo>
                    <a:pt x="13291995" y="6086"/>
                  </a:lnTo>
                  <a:lnTo>
                    <a:pt x="13261835" y="0"/>
                  </a:lnTo>
                  <a:close/>
                </a:path>
              </a:pathLst>
            </a:custGeom>
            <a:solidFill>
              <a:srgbClr val="0404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5553" y="6624065"/>
              <a:ext cx="13339444" cy="1108710"/>
            </a:xfrm>
            <a:custGeom>
              <a:avLst/>
              <a:gdLst/>
              <a:ahLst/>
              <a:cxnLst/>
              <a:rect l="l" t="t" r="r" b="b"/>
              <a:pathLst>
                <a:path w="13339444" h="1108709">
                  <a:moveTo>
                    <a:pt x="0" y="77469"/>
                  </a:moveTo>
                  <a:lnTo>
                    <a:pt x="6089" y="47309"/>
                  </a:lnTo>
                  <a:lnTo>
                    <a:pt x="22696" y="22685"/>
                  </a:lnTo>
                  <a:lnTo>
                    <a:pt x="47325" y="6086"/>
                  </a:lnTo>
                  <a:lnTo>
                    <a:pt x="77482" y="0"/>
                  </a:lnTo>
                  <a:lnTo>
                    <a:pt x="13261835" y="0"/>
                  </a:lnTo>
                  <a:lnTo>
                    <a:pt x="13291995" y="6086"/>
                  </a:lnTo>
                  <a:lnTo>
                    <a:pt x="13316619" y="22685"/>
                  </a:lnTo>
                  <a:lnTo>
                    <a:pt x="13333219" y="47309"/>
                  </a:lnTo>
                  <a:lnTo>
                    <a:pt x="13339305" y="77469"/>
                  </a:lnTo>
                  <a:lnTo>
                    <a:pt x="13339305" y="1030973"/>
                  </a:lnTo>
                  <a:lnTo>
                    <a:pt x="13333219" y="1061128"/>
                  </a:lnTo>
                  <a:lnTo>
                    <a:pt x="13316619" y="1085753"/>
                  </a:lnTo>
                  <a:lnTo>
                    <a:pt x="13291995" y="1102355"/>
                  </a:lnTo>
                  <a:lnTo>
                    <a:pt x="13261835" y="1108443"/>
                  </a:lnTo>
                  <a:lnTo>
                    <a:pt x="77482" y="1108443"/>
                  </a:lnTo>
                  <a:lnTo>
                    <a:pt x="47325" y="1102355"/>
                  </a:lnTo>
                  <a:lnTo>
                    <a:pt x="22696" y="1085753"/>
                  </a:lnTo>
                  <a:lnTo>
                    <a:pt x="6089" y="1061128"/>
                  </a:lnTo>
                  <a:lnTo>
                    <a:pt x="0" y="1030973"/>
                  </a:lnTo>
                  <a:lnTo>
                    <a:pt x="0" y="77469"/>
                  </a:lnTo>
                  <a:close/>
                </a:path>
              </a:pathLst>
            </a:custGeom>
            <a:ln w="22860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68413" y="6646925"/>
              <a:ext cx="737870" cy="1062990"/>
            </a:xfrm>
            <a:custGeom>
              <a:avLst/>
              <a:gdLst/>
              <a:ahLst/>
              <a:cxnLst/>
              <a:rect l="l" t="t" r="r" b="b"/>
              <a:pathLst>
                <a:path w="737869" h="1062990">
                  <a:moveTo>
                    <a:pt x="687819" y="0"/>
                  </a:moveTo>
                  <a:lnTo>
                    <a:pt x="50037" y="0"/>
                  </a:lnTo>
                  <a:lnTo>
                    <a:pt x="30560" y="3925"/>
                  </a:lnTo>
                  <a:lnTo>
                    <a:pt x="14655" y="14636"/>
                  </a:lnTo>
                  <a:lnTo>
                    <a:pt x="3932" y="30539"/>
                  </a:lnTo>
                  <a:lnTo>
                    <a:pt x="0" y="50037"/>
                  </a:lnTo>
                  <a:lnTo>
                    <a:pt x="0" y="1012685"/>
                  </a:lnTo>
                  <a:lnTo>
                    <a:pt x="3932" y="1032162"/>
                  </a:lnTo>
                  <a:lnTo>
                    <a:pt x="14655" y="1048067"/>
                  </a:lnTo>
                  <a:lnTo>
                    <a:pt x="30560" y="1058791"/>
                  </a:lnTo>
                  <a:lnTo>
                    <a:pt x="50037" y="1062723"/>
                  </a:lnTo>
                  <a:lnTo>
                    <a:pt x="687819" y="1062723"/>
                  </a:lnTo>
                  <a:lnTo>
                    <a:pt x="707264" y="1058791"/>
                  </a:lnTo>
                  <a:lnTo>
                    <a:pt x="723172" y="1048067"/>
                  </a:lnTo>
                  <a:lnTo>
                    <a:pt x="733914" y="1032162"/>
                  </a:lnTo>
                  <a:lnTo>
                    <a:pt x="737857" y="1012685"/>
                  </a:lnTo>
                  <a:lnTo>
                    <a:pt x="737857" y="50037"/>
                  </a:lnTo>
                  <a:lnTo>
                    <a:pt x="733914" y="30539"/>
                  </a:lnTo>
                  <a:lnTo>
                    <a:pt x="723172" y="14636"/>
                  </a:lnTo>
                  <a:lnTo>
                    <a:pt x="707264" y="3925"/>
                  </a:lnTo>
                  <a:lnTo>
                    <a:pt x="687819" y="0"/>
                  </a:lnTo>
                  <a:close/>
                </a:path>
              </a:pathLst>
            </a:custGeom>
            <a:solidFill>
              <a:srgbClr val="3C3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82497" y="6931558"/>
            <a:ext cx="19431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50" dirty="0">
                <a:solidFill>
                  <a:srgbClr val="E4DFDF"/>
                </a:solidFill>
                <a:latin typeface="Lucida Sans Unicode"/>
                <a:cs typeface="Lucida Sans Unicode"/>
              </a:rPr>
              <a:t>5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78102" y="6810857"/>
            <a:ext cx="4367530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E4DFDF"/>
                </a:solidFill>
                <a:latin typeface="Lucida Sans Unicode"/>
                <a:cs typeface="Lucida Sans Unicode"/>
              </a:rPr>
              <a:t>Clone</a:t>
            </a:r>
            <a:r>
              <a:rPr sz="1800" spc="11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18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Phishing</a:t>
            </a:r>
            <a:endParaRPr sz="18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450" dirty="0">
                <a:solidFill>
                  <a:srgbClr val="E4DFDF"/>
                </a:solidFill>
                <a:latin typeface="Trebuchet MS"/>
                <a:cs typeface="Trebuchet MS"/>
              </a:rPr>
              <a:t>Copying</a:t>
            </a:r>
            <a:r>
              <a:rPr sz="1450" spc="-10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E4DFDF"/>
                </a:solidFill>
                <a:latin typeface="Trebuchet MS"/>
                <a:cs typeface="Trebuchet MS"/>
              </a:rPr>
              <a:t>a</a:t>
            </a:r>
            <a:r>
              <a:rPr sz="1450" spc="-5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-60" dirty="0">
                <a:solidFill>
                  <a:srgbClr val="E4DFDF"/>
                </a:solidFill>
                <a:latin typeface="Trebuchet MS"/>
                <a:cs typeface="Trebuchet MS"/>
              </a:rPr>
              <a:t>real</a:t>
            </a:r>
            <a:r>
              <a:rPr sz="1450" spc="-7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45" dirty="0">
                <a:solidFill>
                  <a:srgbClr val="E4DFDF"/>
                </a:solidFill>
                <a:latin typeface="Trebuchet MS"/>
                <a:cs typeface="Trebuchet MS"/>
              </a:rPr>
              <a:t>message</a:t>
            </a:r>
            <a:r>
              <a:rPr sz="1450" spc="-5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E4DFDF"/>
                </a:solidFill>
                <a:latin typeface="Trebuchet MS"/>
                <a:cs typeface="Trebuchet MS"/>
              </a:rPr>
              <a:t>and</a:t>
            </a:r>
            <a:r>
              <a:rPr sz="1450" spc="-7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-30" dirty="0">
                <a:solidFill>
                  <a:srgbClr val="E4DFDF"/>
                </a:solidFill>
                <a:latin typeface="Trebuchet MS"/>
                <a:cs typeface="Trebuchet MS"/>
              </a:rPr>
              <a:t>inserting</a:t>
            </a:r>
            <a:r>
              <a:rPr sz="1450" spc="-8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E4DFDF"/>
                </a:solidFill>
                <a:latin typeface="Trebuchet MS"/>
                <a:cs typeface="Trebuchet MS"/>
              </a:rPr>
              <a:t>a</a:t>
            </a:r>
            <a:r>
              <a:rPr sz="1450" spc="-5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dirty="0">
                <a:solidFill>
                  <a:srgbClr val="E4DFDF"/>
                </a:solidFill>
                <a:latin typeface="Trebuchet MS"/>
                <a:cs typeface="Trebuchet MS"/>
              </a:rPr>
              <a:t>malicious</a:t>
            </a:r>
            <a:r>
              <a:rPr sz="1450" spc="-4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450" spc="-25" dirty="0">
                <a:solidFill>
                  <a:srgbClr val="E4DFDF"/>
                </a:solidFill>
                <a:latin typeface="Trebuchet MS"/>
                <a:cs typeface="Trebuchet MS"/>
              </a:rPr>
              <a:t>link.</a:t>
            </a:r>
            <a:endParaRPr sz="14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81304" y="648715"/>
            <a:ext cx="7165975" cy="1416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600"/>
              </a:lnSpc>
            </a:pPr>
            <a:r>
              <a:rPr dirty="0"/>
              <a:t>How</a:t>
            </a:r>
            <a:r>
              <a:rPr spc="-229" dirty="0"/>
              <a:t> </a:t>
            </a:r>
            <a:r>
              <a:rPr dirty="0"/>
              <a:t>to</a:t>
            </a:r>
            <a:r>
              <a:rPr spc="-220" dirty="0"/>
              <a:t> </a:t>
            </a:r>
            <a:r>
              <a:rPr dirty="0"/>
              <a:t>Identify</a:t>
            </a:r>
            <a:r>
              <a:rPr spc="-229" dirty="0"/>
              <a:t> </a:t>
            </a:r>
            <a:r>
              <a:rPr spc="540" dirty="0"/>
              <a:t>a</a:t>
            </a:r>
            <a:r>
              <a:rPr spc="-229" dirty="0"/>
              <a:t> </a:t>
            </a:r>
            <a:r>
              <a:rPr spc="-10" dirty="0"/>
              <a:t>Phishing Email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89978" y="2447035"/>
            <a:ext cx="518159" cy="518159"/>
            <a:chOff x="789978" y="2447035"/>
            <a:chExt cx="518159" cy="518159"/>
          </a:xfrm>
        </p:grpSpPr>
        <p:sp>
          <p:nvSpPr>
            <p:cNvPr id="5" name="object 5"/>
            <p:cNvSpPr/>
            <p:nvPr/>
          </p:nvSpPr>
          <p:spPr>
            <a:xfrm>
              <a:off x="793788" y="2450845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415036" y="0"/>
                  </a:moveTo>
                  <a:lnTo>
                    <a:pt x="95275" y="0"/>
                  </a:lnTo>
                  <a:lnTo>
                    <a:pt x="58191" y="7471"/>
                  </a:lnTo>
                  <a:lnTo>
                    <a:pt x="27906" y="27860"/>
                  </a:lnTo>
                  <a:lnTo>
                    <a:pt x="7487" y="58132"/>
                  </a:lnTo>
                  <a:lnTo>
                    <a:pt x="0" y="95250"/>
                  </a:lnTo>
                  <a:lnTo>
                    <a:pt x="0" y="414908"/>
                  </a:lnTo>
                  <a:lnTo>
                    <a:pt x="7487" y="452046"/>
                  </a:lnTo>
                  <a:lnTo>
                    <a:pt x="27906" y="482361"/>
                  </a:lnTo>
                  <a:lnTo>
                    <a:pt x="58191" y="502794"/>
                  </a:lnTo>
                  <a:lnTo>
                    <a:pt x="95275" y="510286"/>
                  </a:lnTo>
                  <a:lnTo>
                    <a:pt x="415036" y="510286"/>
                  </a:lnTo>
                  <a:lnTo>
                    <a:pt x="452110" y="502794"/>
                  </a:lnTo>
                  <a:lnTo>
                    <a:pt x="482372" y="482361"/>
                  </a:lnTo>
                  <a:lnTo>
                    <a:pt x="502770" y="452046"/>
                  </a:lnTo>
                  <a:lnTo>
                    <a:pt x="510247" y="414908"/>
                  </a:lnTo>
                  <a:lnTo>
                    <a:pt x="510247" y="95250"/>
                  </a:lnTo>
                  <a:lnTo>
                    <a:pt x="502770" y="58132"/>
                  </a:lnTo>
                  <a:lnTo>
                    <a:pt x="482372" y="27860"/>
                  </a:lnTo>
                  <a:lnTo>
                    <a:pt x="452110" y="7471"/>
                  </a:lnTo>
                  <a:lnTo>
                    <a:pt x="415036" y="0"/>
                  </a:lnTo>
                  <a:close/>
                </a:path>
              </a:pathLst>
            </a:custGeom>
            <a:solidFill>
              <a:srgbClr val="3C3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3788" y="2450845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0" y="95250"/>
                  </a:moveTo>
                  <a:lnTo>
                    <a:pt x="7487" y="58132"/>
                  </a:lnTo>
                  <a:lnTo>
                    <a:pt x="27906" y="27860"/>
                  </a:lnTo>
                  <a:lnTo>
                    <a:pt x="58191" y="7471"/>
                  </a:lnTo>
                  <a:lnTo>
                    <a:pt x="95275" y="0"/>
                  </a:lnTo>
                  <a:lnTo>
                    <a:pt x="415036" y="0"/>
                  </a:lnTo>
                  <a:lnTo>
                    <a:pt x="452110" y="7471"/>
                  </a:lnTo>
                  <a:lnTo>
                    <a:pt x="482372" y="27860"/>
                  </a:lnTo>
                  <a:lnTo>
                    <a:pt x="502770" y="58132"/>
                  </a:lnTo>
                  <a:lnTo>
                    <a:pt x="510247" y="95250"/>
                  </a:lnTo>
                  <a:lnTo>
                    <a:pt x="510247" y="414908"/>
                  </a:lnTo>
                  <a:lnTo>
                    <a:pt x="502770" y="452046"/>
                  </a:lnTo>
                  <a:lnTo>
                    <a:pt x="482372" y="482361"/>
                  </a:lnTo>
                  <a:lnTo>
                    <a:pt x="452110" y="502794"/>
                  </a:lnTo>
                  <a:lnTo>
                    <a:pt x="415036" y="510286"/>
                  </a:lnTo>
                  <a:lnTo>
                    <a:pt x="95275" y="510286"/>
                  </a:lnTo>
                  <a:lnTo>
                    <a:pt x="58191" y="502794"/>
                  </a:lnTo>
                  <a:lnTo>
                    <a:pt x="27906" y="482361"/>
                  </a:lnTo>
                  <a:lnTo>
                    <a:pt x="7487" y="452046"/>
                  </a:lnTo>
                  <a:lnTo>
                    <a:pt x="0" y="414908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789978" y="3831844"/>
            <a:ext cx="518159" cy="518159"/>
            <a:chOff x="789978" y="3831844"/>
            <a:chExt cx="518159" cy="518159"/>
          </a:xfrm>
        </p:grpSpPr>
        <p:sp>
          <p:nvSpPr>
            <p:cNvPr id="8" name="object 8"/>
            <p:cNvSpPr/>
            <p:nvPr/>
          </p:nvSpPr>
          <p:spPr>
            <a:xfrm>
              <a:off x="793788" y="3835654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415036" y="0"/>
                  </a:moveTo>
                  <a:lnTo>
                    <a:pt x="95275" y="0"/>
                  </a:lnTo>
                  <a:lnTo>
                    <a:pt x="58191" y="7471"/>
                  </a:lnTo>
                  <a:lnTo>
                    <a:pt x="27906" y="27860"/>
                  </a:lnTo>
                  <a:lnTo>
                    <a:pt x="7487" y="58132"/>
                  </a:lnTo>
                  <a:lnTo>
                    <a:pt x="0" y="95250"/>
                  </a:lnTo>
                  <a:lnTo>
                    <a:pt x="0" y="415036"/>
                  </a:lnTo>
                  <a:lnTo>
                    <a:pt x="7487" y="452100"/>
                  </a:lnTo>
                  <a:lnTo>
                    <a:pt x="27906" y="482377"/>
                  </a:lnTo>
                  <a:lnTo>
                    <a:pt x="58191" y="502796"/>
                  </a:lnTo>
                  <a:lnTo>
                    <a:pt x="95275" y="510286"/>
                  </a:lnTo>
                  <a:lnTo>
                    <a:pt x="415036" y="510286"/>
                  </a:lnTo>
                  <a:lnTo>
                    <a:pt x="452110" y="502796"/>
                  </a:lnTo>
                  <a:lnTo>
                    <a:pt x="482372" y="482377"/>
                  </a:lnTo>
                  <a:lnTo>
                    <a:pt x="502770" y="452100"/>
                  </a:lnTo>
                  <a:lnTo>
                    <a:pt x="510247" y="415036"/>
                  </a:lnTo>
                  <a:lnTo>
                    <a:pt x="510247" y="95250"/>
                  </a:lnTo>
                  <a:lnTo>
                    <a:pt x="502770" y="58132"/>
                  </a:lnTo>
                  <a:lnTo>
                    <a:pt x="482372" y="27860"/>
                  </a:lnTo>
                  <a:lnTo>
                    <a:pt x="452110" y="7471"/>
                  </a:lnTo>
                  <a:lnTo>
                    <a:pt x="415036" y="0"/>
                  </a:lnTo>
                  <a:close/>
                </a:path>
              </a:pathLst>
            </a:custGeom>
            <a:solidFill>
              <a:srgbClr val="3C3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3788" y="3835654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0" y="95250"/>
                  </a:moveTo>
                  <a:lnTo>
                    <a:pt x="7487" y="58132"/>
                  </a:lnTo>
                  <a:lnTo>
                    <a:pt x="27906" y="27860"/>
                  </a:lnTo>
                  <a:lnTo>
                    <a:pt x="58191" y="7471"/>
                  </a:lnTo>
                  <a:lnTo>
                    <a:pt x="95275" y="0"/>
                  </a:lnTo>
                  <a:lnTo>
                    <a:pt x="415036" y="0"/>
                  </a:lnTo>
                  <a:lnTo>
                    <a:pt x="452110" y="7471"/>
                  </a:lnTo>
                  <a:lnTo>
                    <a:pt x="482372" y="27860"/>
                  </a:lnTo>
                  <a:lnTo>
                    <a:pt x="502770" y="58132"/>
                  </a:lnTo>
                  <a:lnTo>
                    <a:pt x="510247" y="95250"/>
                  </a:lnTo>
                  <a:lnTo>
                    <a:pt x="510247" y="415036"/>
                  </a:lnTo>
                  <a:lnTo>
                    <a:pt x="502770" y="452100"/>
                  </a:lnTo>
                  <a:lnTo>
                    <a:pt x="482372" y="482377"/>
                  </a:lnTo>
                  <a:lnTo>
                    <a:pt x="452110" y="502796"/>
                  </a:lnTo>
                  <a:lnTo>
                    <a:pt x="415036" y="510286"/>
                  </a:lnTo>
                  <a:lnTo>
                    <a:pt x="95275" y="510286"/>
                  </a:lnTo>
                  <a:lnTo>
                    <a:pt x="58191" y="502796"/>
                  </a:lnTo>
                  <a:lnTo>
                    <a:pt x="27906" y="482377"/>
                  </a:lnTo>
                  <a:lnTo>
                    <a:pt x="7487" y="452100"/>
                  </a:lnTo>
                  <a:lnTo>
                    <a:pt x="0" y="415036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789978" y="5216652"/>
            <a:ext cx="518159" cy="518159"/>
            <a:chOff x="789978" y="5216652"/>
            <a:chExt cx="518159" cy="518159"/>
          </a:xfrm>
        </p:grpSpPr>
        <p:sp>
          <p:nvSpPr>
            <p:cNvPr id="11" name="object 11"/>
            <p:cNvSpPr/>
            <p:nvPr/>
          </p:nvSpPr>
          <p:spPr>
            <a:xfrm>
              <a:off x="793788" y="5220462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415036" y="0"/>
                  </a:moveTo>
                  <a:lnTo>
                    <a:pt x="95275" y="0"/>
                  </a:lnTo>
                  <a:lnTo>
                    <a:pt x="58191" y="7471"/>
                  </a:lnTo>
                  <a:lnTo>
                    <a:pt x="27906" y="27860"/>
                  </a:lnTo>
                  <a:lnTo>
                    <a:pt x="7487" y="58132"/>
                  </a:lnTo>
                  <a:lnTo>
                    <a:pt x="0" y="95250"/>
                  </a:lnTo>
                  <a:lnTo>
                    <a:pt x="0" y="415036"/>
                  </a:lnTo>
                  <a:lnTo>
                    <a:pt x="7487" y="452100"/>
                  </a:lnTo>
                  <a:lnTo>
                    <a:pt x="27906" y="482377"/>
                  </a:lnTo>
                  <a:lnTo>
                    <a:pt x="58191" y="502796"/>
                  </a:lnTo>
                  <a:lnTo>
                    <a:pt x="95275" y="510286"/>
                  </a:lnTo>
                  <a:lnTo>
                    <a:pt x="415036" y="510286"/>
                  </a:lnTo>
                  <a:lnTo>
                    <a:pt x="452110" y="502796"/>
                  </a:lnTo>
                  <a:lnTo>
                    <a:pt x="482372" y="482377"/>
                  </a:lnTo>
                  <a:lnTo>
                    <a:pt x="502770" y="452100"/>
                  </a:lnTo>
                  <a:lnTo>
                    <a:pt x="510247" y="415036"/>
                  </a:lnTo>
                  <a:lnTo>
                    <a:pt x="510247" y="95250"/>
                  </a:lnTo>
                  <a:lnTo>
                    <a:pt x="502770" y="58132"/>
                  </a:lnTo>
                  <a:lnTo>
                    <a:pt x="482372" y="27860"/>
                  </a:lnTo>
                  <a:lnTo>
                    <a:pt x="452110" y="7471"/>
                  </a:lnTo>
                  <a:lnTo>
                    <a:pt x="415036" y="0"/>
                  </a:lnTo>
                  <a:close/>
                </a:path>
              </a:pathLst>
            </a:custGeom>
            <a:solidFill>
              <a:srgbClr val="3C3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93788" y="5220462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39">
                  <a:moveTo>
                    <a:pt x="0" y="95250"/>
                  </a:moveTo>
                  <a:lnTo>
                    <a:pt x="7487" y="58132"/>
                  </a:lnTo>
                  <a:lnTo>
                    <a:pt x="27906" y="27860"/>
                  </a:lnTo>
                  <a:lnTo>
                    <a:pt x="58191" y="7471"/>
                  </a:lnTo>
                  <a:lnTo>
                    <a:pt x="95275" y="0"/>
                  </a:lnTo>
                  <a:lnTo>
                    <a:pt x="415036" y="0"/>
                  </a:lnTo>
                  <a:lnTo>
                    <a:pt x="452110" y="7471"/>
                  </a:lnTo>
                  <a:lnTo>
                    <a:pt x="482372" y="27860"/>
                  </a:lnTo>
                  <a:lnTo>
                    <a:pt x="502770" y="58132"/>
                  </a:lnTo>
                  <a:lnTo>
                    <a:pt x="510247" y="95250"/>
                  </a:lnTo>
                  <a:lnTo>
                    <a:pt x="510247" y="415036"/>
                  </a:lnTo>
                  <a:lnTo>
                    <a:pt x="502770" y="452100"/>
                  </a:lnTo>
                  <a:lnTo>
                    <a:pt x="482372" y="482377"/>
                  </a:lnTo>
                  <a:lnTo>
                    <a:pt x="452110" y="502796"/>
                  </a:lnTo>
                  <a:lnTo>
                    <a:pt x="415036" y="510286"/>
                  </a:lnTo>
                  <a:lnTo>
                    <a:pt x="95275" y="510286"/>
                  </a:lnTo>
                  <a:lnTo>
                    <a:pt x="58191" y="502796"/>
                  </a:lnTo>
                  <a:lnTo>
                    <a:pt x="27906" y="482377"/>
                  </a:lnTo>
                  <a:lnTo>
                    <a:pt x="7487" y="452100"/>
                  </a:lnTo>
                  <a:lnTo>
                    <a:pt x="0" y="415036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89978" y="6601459"/>
            <a:ext cx="518159" cy="518159"/>
            <a:chOff x="789978" y="6601459"/>
            <a:chExt cx="518159" cy="518159"/>
          </a:xfrm>
        </p:grpSpPr>
        <p:sp>
          <p:nvSpPr>
            <p:cNvPr id="14" name="object 14"/>
            <p:cNvSpPr/>
            <p:nvPr/>
          </p:nvSpPr>
          <p:spPr>
            <a:xfrm>
              <a:off x="793788" y="6605269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40">
                  <a:moveTo>
                    <a:pt x="415036" y="0"/>
                  </a:moveTo>
                  <a:lnTo>
                    <a:pt x="95275" y="0"/>
                  </a:lnTo>
                  <a:lnTo>
                    <a:pt x="58191" y="7489"/>
                  </a:lnTo>
                  <a:lnTo>
                    <a:pt x="27906" y="27908"/>
                  </a:lnTo>
                  <a:lnTo>
                    <a:pt x="7487" y="58185"/>
                  </a:lnTo>
                  <a:lnTo>
                    <a:pt x="0" y="95249"/>
                  </a:lnTo>
                  <a:lnTo>
                    <a:pt x="0" y="414997"/>
                  </a:lnTo>
                  <a:lnTo>
                    <a:pt x="7487" y="452080"/>
                  </a:lnTo>
                  <a:lnTo>
                    <a:pt x="27906" y="482360"/>
                  </a:lnTo>
                  <a:lnTo>
                    <a:pt x="58191" y="502774"/>
                  </a:lnTo>
                  <a:lnTo>
                    <a:pt x="95275" y="510260"/>
                  </a:lnTo>
                  <a:lnTo>
                    <a:pt x="415036" y="510260"/>
                  </a:lnTo>
                  <a:lnTo>
                    <a:pt x="452110" y="502774"/>
                  </a:lnTo>
                  <a:lnTo>
                    <a:pt x="482372" y="482360"/>
                  </a:lnTo>
                  <a:lnTo>
                    <a:pt x="502770" y="452080"/>
                  </a:lnTo>
                  <a:lnTo>
                    <a:pt x="510247" y="414997"/>
                  </a:lnTo>
                  <a:lnTo>
                    <a:pt x="510247" y="95249"/>
                  </a:lnTo>
                  <a:lnTo>
                    <a:pt x="502770" y="58185"/>
                  </a:lnTo>
                  <a:lnTo>
                    <a:pt x="482372" y="27908"/>
                  </a:lnTo>
                  <a:lnTo>
                    <a:pt x="452110" y="7489"/>
                  </a:lnTo>
                  <a:lnTo>
                    <a:pt x="415036" y="0"/>
                  </a:lnTo>
                  <a:close/>
                </a:path>
              </a:pathLst>
            </a:custGeom>
            <a:solidFill>
              <a:srgbClr val="3C3C4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93788" y="6605269"/>
              <a:ext cx="510540" cy="510540"/>
            </a:xfrm>
            <a:custGeom>
              <a:avLst/>
              <a:gdLst/>
              <a:ahLst/>
              <a:cxnLst/>
              <a:rect l="l" t="t" r="r" b="b"/>
              <a:pathLst>
                <a:path w="510540" h="510540">
                  <a:moveTo>
                    <a:pt x="0" y="95249"/>
                  </a:moveTo>
                  <a:lnTo>
                    <a:pt x="7487" y="58185"/>
                  </a:lnTo>
                  <a:lnTo>
                    <a:pt x="27906" y="27908"/>
                  </a:lnTo>
                  <a:lnTo>
                    <a:pt x="58191" y="7489"/>
                  </a:lnTo>
                  <a:lnTo>
                    <a:pt x="95275" y="0"/>
                  </a:lnTo>
                  <a:lnTo>
                    <a:pt x="415036" y="0"/>
                  </a:lnTo>
                  <a:lnTo>
                    <a:pt x="452110" y="7489"/>
                  </a:lnTo>
                  <a:lnTo>
                    <a:pt x="482372" y="27908"/>
                  </a:lnTo>
                  <a:lnTo>
                    <a:pt x="502770" y="58185"/>
                  </a:lnTo>
                  <a:lnTo>
                    <a:pt x="510247" y="95249"/>
                  </a:lnTo>
                  <a:lnTo>
                    <a:pt x="510247" y="414997"/>
                  </a:lnTo>
                  <a:lnTo>
                    <a:pt x="502770" y="452080"/>
                  </a:lnTo>
                  <a:lnTo>
                    <a:pt x="482372" y="482360"/>
                  </a:lnTo>
                  <a:lnTo>
                    <a:pt x="452110" y="502774"/>
                  </a:lnTo>
                  <a:lnTo>
                    <a:pt x="415036" y="510260"/>
                  </a:lnTo>
                  <a:lnTo>
                    <a:pt x="95275" y="510260"/>
                  </a:lnTo>
                  <a:lnTo>
                    <a:pt x="58191" y="502774"/>
                  </a:lnTo>
                  <a:lnTo>
                    <a:pt x="27906" y="482360"/>
                  </a:lnTo>
                  <a:lnTo>
                    <a:pt x="7487" y="452080"/>
                  </a:lnTo>
                  <a:lnTo>
                    <a:pt x="0" y="414997"/>
                  </a:lnTo>
                  <a:lnTo>
                    <a:pt x="0" y="95249"/>
                  </a:lnTo>
                  <a:close/>
                </a:path>
              </a:pathLst>
            </a:custGeom>
            <a:ln w="7620">
              <a:solidFill>
                <a:srgbClr val="55555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18285" y="2504312"/>
            <a:ext cx="5727065" cy="5003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50" dirty="0">
                <a:solidFill>
                  <a:srgbClr val="E4DFDF"/>
                </a:solidFill>
                <a:latin typeface="Lucida Sans Unicode"/>
                <a:cs typeface="Lucida Sans Unicode"/>
              </a:rPr>
              <a:t>Check</a:t>
            </a:r>
            <a:r>
              <a:rPr sz="2200" spc="-4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E4DFDF"/>
                </a:solidFill>
                <a:latin typeface="Lucida Sans Unicode"/>
                <a:cs typeface="Lucida Sans Unicode"/>
              </a:rPr>
              <a:t>the</a:t>
            </a:r>
            <a:r>
              <a:rPr sz="2200" spc="-4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E4DFDF"/>
                </a:solidFill>
                <a:latin typeface="Lucida Sans Unicode"/>
                <a:cs typeface="Lucida Sans Unicode"/>
              </a:rPr>
              <a:t>sender's</a:t>
            </a:r>
            <a:r>
              <a:rPr sz="2200" spc="-3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spc="60" dirty="0">
                <a:solidFill>
                  <a:srgbClr val="E4DFDF"/>
                </a:solidFill>
                <a:latin typeface="Lucida Sans Unicode"/>
                <a:cs typeface="Lucida Sans Unicode"/>
              </a:rPr>
              <a:t>email</a:t>
            </a:r>
            <a:r>
              <a:rPr sz="2200" spc="-5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spc="-25" dirty="0">
                <a:solidFill>
                  <a:srgbClr val="E4DFDF"/>
                </a:solidFill>
                <a:latin typeface="Lucida Sans Unicode"/>
                <a:cs typeface="Lucida Sans Unicode"/>
              </a:rPr>
              <a:t>ID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Look</a:t>
            </a:r>
            <a:r>
              <a:rPr sz="1750" spc="-2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45" dirty="0">
                <a:solidFill>
                  <a:srgbClr val="E4DFDF"/>
                </a:solidFill>
                <a:latin typeface="Trebuchet MS"/>
                <a:cs typeface="Trebuchet MS"/>
              </a:rPr>
              <a:t>for</a:t>
            </a:r>
            <a:r>
              <a:rPr sz="1750" spc="-4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E4DFDF"/>
                </a:solidFill>
                <a:latin typeface="Trebuchet MS"/>
                <a:cs typeface="Trebuchet MS"/>
              </a:rPr>
              <a:t>spelling</a:t>
            </a:r>
            <a:r>
              <a:rPr sz="1750" spc="-5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E4DFDF"/>
                </a:solidFill>
                <a:latin typeface="Trebuchet MS"/>
                <a:cs typeface="Trebuchet MS"/>
              </a:rPr>
              <a:t>errors</a:t>
            </a:r>
            <a:r>
              <a:rPr sz="1750" spc="-3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and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suspicious</a:t>
            </a:r>
            <a:r>
              <a:rPr sz="1750" spc="-3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addresses.</a:t>
            </a:r>
            <a:endParaRPr sz="1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E4DFDF"/>
                </a:solidFill>
                <a:latin typeface="Lucida Sans Unicode"/>
                <a:cs typeface="Lucida Sans Unicode"/>
              </a:rPr>
              <a:t>Hover</a:t>
            </a:r>
            <a:r>
              <a:rPr sz="2200" spc="1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E4DFDF"/>
                </a:solidFill>
                <a:latin typeface="Lucida Sans Unicode"/>
                <a:cs typeface="Lucida Sans Unicode"/>
              </a:rPr>
              <a:t>over </a:t>
            </a:r>
            <a:r>
              <a:rPr sz="2200" spc="-110" dirty="0">
                <a:solidFill>
                  <a:srgbClr val="E4DFDF"/>
                </a:solidFill>
                <a:latin typeface="Lucida Sans Unicode"/>
                <a:cs typeface="Lucida Sans Unicode"/>
              </a:rPr>
              <a:t>links</a:t>
            </a:r>
            <a:r>
              <a:rPr sz="2200" spc="-2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E4DFDF"/>
                </a:solidFill>
                <a:latin typeface="Lucida Sans Unicode"/>
                <a:cs typeface="Lucida Sans Unicode"/>
              </a:rPr>
              <a:t>before </a:t>
            </a:r>
            <a:r>
              <a:rPr sz="22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clicking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Check</a:t>
            </a:r>
            <a:r>
              <a:rPr sz="1750" spc="-10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65" dirty="0">
                <a:solidFill>
                  <a:srgbClr val="E4DFDF"/>
                </a:solidFill>
                <a:latin typeface="Trebuchet MS"/>
                <a:cs typeface="Trebuchet MS"/>
              </a:rPr>
              <a:t>real</a:t>
            </a:r>
            <a:r>
              <a:rPr sz="1750" spc="-10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75" dirty="0">
                <a:solidFill>
                  <a:srgbClr val="E4DFDF"/>
                </a:solidFill>
                <a:latin typeface="Trebuchet MS"/>
                <a:cs typeface="Trebuchet MS"/>
              </a:rPr>
              <a:t>URLs</a:t>
            </a:r>
            <a:r>
              <a:rPr sz="1750" spc="-7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55" dirty="0">
                <a:solidFill>
                  <a:srgbClr val="E4DFDF"/>
                </a:solidFill>
                <a:latin typeface="Trebuchet MS"/>
                <a:cs typeface="Trebuchet MS"/>
              </a:rPr>
              <a:t>to</a:t>
            </a:r>
            <a:r>
              <a:rPr sz="17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65" dirty="0">
                <a:solidFill>
                  <a:srgbClr val="E4DFDF"/>
                </a:solidFill>
                <a:latin typeface="Trebuchet MS"/>
                <a:cs typeface="Trebuchet MS"/>
              </a:rPr>
              <a:t>verify</a:t>
            </a:r>
            <a:r>
              <a:rPr sz="1750" spc="-11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55" dirty="0">
                <a:solidFill>
                  <a:srgbClr val="E4DFDF"/>
                </a:solidFill>
                <a:latin typeface="Trebuchet MS"/>
                <a:cs typeface="Trebuchet MS"/>
              </a:rPr>
              <a:t>they</a:t>
            </a:r>
            <a:r>
              <a:rPr sz="17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50" dirty="0">
                <a:solidFill>
                  <a:srgbClr val="E4DFDF"/>
                </a:solidFill>
                <a:latin typeface="Trebuchet MS"/>
                <a:cs typeface="Trebuchet MS"/>
              </a:rPr>
              <a:t>lead</a:t>
            </a:r>
            <a:r>
              <a:rPr sz="1750" spc="-10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55" dirty="0">
                <a:solidFill>
                  <a:srgbClr val="E4DFDF"/>
                </a:solidFill>
                <a:latin typeface="Trebuchet MS"/>
                <a:cs typeface="Trebuchet MS"/>
              </a:rPr>
              <a:t>to</a:t>
            </a:r>
            <a:r>
              <a:rPr sz="17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60" dirty="0">
                <a:solidFill>
                  <a:srgbClr val="E4DFDF"/>
                </a:solidFill>
                <a:latin typeface="Trebuchet MS"/>
                <a:cs typeface="Trebuchet MS"/>
              </a:rPr>
              <a:t>legitimate</a:t>
            </a:r>
            <a:r>
              <a:rPr sz="1750" spc="-13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sites.</a:t>
            </a:r>
            <a:endParaRPr sz="1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solidFill>
                  <a:srgbClr val="E4DFDF"/>
                </a:solidFill>
                <a:latin typeface="Lucida Sans Unicode"/>
                <a:cs typeface="Lucida Sans Unicode"/>
              </a:rPr>
              <a:t>Avoid</a:t>
            </a:r>
            <a:r>
              <a:rPr sz="2200" spc="-6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E4DFDF"/>
                </a:solidFill>
                <a:latin typeface="Lucida Sans Unicode"/>
                <a:cs typeface="Lucida Sans Unicode"/>
              </a:rPr>
              <a:t>urgent</a:t>
            </a:r>
            <a:r>
              <a:rPr sz="2200" spc="-7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E4DFDF"/>
                </a:solidFill>
                <a:latin typeface="Lucida Sans Unicode"/>
                <a:cs typeface="Lucida Sans Unicode"/>
              </a:rPr>
              <a:t>or</a:t>
            </a:r>
            <a:r>
              <a:rPr sz="2200" spc="-5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E4DFDF"/>
                </a:solidFill>
                <a:latin typeface="Lucida Sans Unicode"/>
                <a:cs typeface="Lucida Sans Unicode"/>
              </a:rPr>
              <a:t>fear-</a:t>
            </a:r>
            <a:r>
              <a:rPr sz="2200" spc="114" dirty="0">
                <a:solidFill>
                  <a:srgbClr val="E4DFDF"/>
                </a:solidFill>
                <a:latin typeface="Lucida Sans Unicode"/>
                <a:cs typeface="Lucida Sans Unicode"/>
              </a:rPr>
              <a:t>based</a:t>
            </a:r>
            <a:r>
              <a:rPr sz="2200" spc="-7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spc="85" dirty="0">
                <a:solidFill>
                  <a:srgbClr val="E4DFDF"/>
                </a:solidFill>
                <a:latin typeface="Lucida Sans Unicode"/>
                <a:cs typeface="Lucida Sans Unicode"/>
              </a:rPr>
              <a:t>language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Watch</a:t>
            </a:r>
            <a:r>
              <a:rPr sz="1750" spc="-10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40" dirty="0">
                <a:solidFill>
                  <a:srgbClr val="E4DFDF"/>
                </a:solidFill>
                <a:latin typeface="Trebuchet MS"/>
                <a:cs typeface="Trebuchet MS"/>
              </a:rPr>
              <a:t>out</a:t>
            </a:r>
            <a:r>
              <a:rPr sz="1750" spc="-10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45" dirty="0">
                <a:solidFill>
                  <a:srgbClr val="E4DFDF"/>
                </a:solidFill>
                <a:latin typeface="Trebuchet MS"/>
                <a:cs typeface="Trebuchet MS"/>
              </a:rPr>
              <a:t>for</a:t>
            </a:r>
            <a:r>
              <a:rPr sz="1750" spc="-12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80" dirty="0">
                <a:solidFill>
                  <a:srgbClr val="E4DFDF"/>
                </a:solidFill>
                <a:latin typeface="Trebuchet MS"/>
                <a:cs typeface="Trebuchet MS"/>
              </a:rPr>
              <a:t>messages</a:t>
            </a:r>
            <a:r>
              <a:rPr sz="1750" spc="-11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85" dirty="0">
                <a:solidFill>
                  <a:srgbClr val="E4DFDF"/>
                </a:solidFill>
                <a:latin typeface="Trebuchet MS"/>
                <a:cs typeface="Trebuchet MS"/>
              </a:rPr>
              <a:t>like</a:t>
            </a:r>
            <a:r>
              <a:rPr sz="1750" spc="-12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0" dirty="0">
                <a:solidFill>
                  <a:srgbClr val="E4DFDF"/>
                </a:solidFill>
                <a:latin typeface="Trebuchet MS"/>
                <a:cs typeface="Trebuchet MS"/>
              </a:rPr>
              <a:t>"Your</a:t>
            </a:r>
            <a:r>
              <a:rPr sz="1750" spc="-10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account</a:t>
            </a:r>
            <a:r>
              <a:rPr sz="1750" spc="-10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90" dirty="0">
                <a:solidFill>
                  <a:srgbClr val="E4DFDF"/>
                </a:solidFill>
                <a:latin typeface="Trebuchet MS"/>
                <a:cs typeface="Trebuchet MS"/>
              </a:rPr>
              <a:t>will</a:t>
            </a:r>
            <a:r>
              <a:rPr sz="1750" spc="-10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35" dirty="0">
                <a:solidFill>
                  <a:srgbClr val="E4DFDF"/>
                </a:solidFill>
                <a:latin typeface="Trebuchet MS"/>
                <a:cs typeface="Trebuchet MS"/>
              </a:rPr>
              <a:t>be</a:t>
            </a:r>
            <a:r>
              <a:rPr sz="1750" spc="-11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closed".</a:t>
            </a:r>
            <a:endParaRPr sz="1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200" spc="-60" dirty="0">
                <a:solidFill>
                  <a:srgbClr val="E4DFDF"/>
                </a:solidFill>
                <a:latin typeface="Lucida Sans Unicode"/>
                <a:cs typeface="Lucida Sans Unicode"/>
              </a:rPr>
              <a:t>Don't</a:t>
            </a:r>
            <a:r>
              <a:rPr sz="2200" spc="-9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spc="70" dirty="0">
                <a:solidFill>
                  <a:srgbClr val="E4DFDF"/>
                </a:solidFill>
                <a:latin typeface="Lucida Sans Unicode"/>
                <a:cs typeface="Lucida Sans Unicode"/>
              </a:rPr>
              <a:t>open</a:t>
            </a:r>
            <a:r>
              <a:rPr sz="2200" spc="-9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E4DFDF"/>
                </a:solidFill>
                <a:latin typeface="Lucida Sans Unicode"/>
                <a:cs typeface="Lucida Sans Unicode"/>
              </a:rPr>
              <a:t>unknown</a:t>
            </a:r>
            <a:r>
              <a:rPr sz="2200" spc="-12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spc="80" dirty="0">
                <a:solidFill>
                  <a:srgbClr val="E4DFDF"/>
                </a:solidFill>
                <a:latin typeface="Lucida Sans Unicode"/>
                <a:cs typeface="Lucida Sans Unicode"/>
              </a:rPr>
              <a:t>attachments</a:t>
            </a:r>
            <a:r>
              <a:rPr sz="2200" spc="-8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E4DFDF"/>
                </a:solidFill>
                <a:latin typeface="Lucida Sans Unicode"/>
                <a:cs typeface="Lucida Sans Unicode"/>
              </a:rPr>
              <a:t>or</a:t>
            </a:r>
            <a:r>
              <a:rPr sz="2200" spc="-10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spc="-40" dirty="0">
                <a:solidFill>
                  <a:srgbClr val="E4DFDF"/>
                </a:solidFill>
                <a:latin typeface="Lucida Sans Unicode"/>
                <a:cs typeface="Lucida Sans Unicode"/>
              </a:rPr>
              <a:t>links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Suspicious</a:t>
            </a:r>
            <a:r>
              <a:rPr sz="1750" spc="-45" dirty="0">
                <a:solidFill>
                  <a:srgbClr val="E4DFDF"/>
                </a:solidFill>
                <a:latin typeface="Trebuchet MS"/>
                <a:cs typeface="Trebuchet MS"/>
              </a:rPr>
              <a:t> files</a:t>
            </a:r>
            <a:r>
              <a:rPr sz="1750" spc="-5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can</a:t>
            </a:r>
            <a:r>
              <a:rPr sz="1750" spc="-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E4DFDF"/>
                </a:solidFill>
                <a:latin typeface="Trebuchet MS"/>
                <a:cs typeface="Trebuchet MS"/>
              </a:rPr>
              <a:t>contain</a:t>
            </a:r>
            <a:r>
              <a:rPr sz="1750" spc="-4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E4DFDF"/>
                </a:solidFill>
                <a:latin typeface="Trebuchet MS"/>
                <a:cs typeface="Trebuchet MS"/>
              </a:rPr>
              <a:t>malware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30" dirty="0">
                <a:solidFill>
                  <a:srgbClr val="E4DFDF"/>
                </a:solidFill>
                <a:latin typeface="Trebuchet MS"/>
                <a:cs typeface="Trebuchet MS"/>
              </a:rPr>
              <a:t>or</a:t>
            </a:r>
            <a:r>
              <a:rPr sz="1750" spc="-3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malicious</a:t>
            </a:r>
            <a:r>
              <a:rPr sz="1750" spc="-5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code.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5486399" cy="82295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267958" y="1275203"/>
            <a:ext cx="3742054" cy="1456690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pc="90" dirty="0"/>
              <a:t>Real</a:t>
            </a:r>
            <a:r>
              <a:rPr spc="-190" dirty="0"/>
              <a:t> </a:t>
            </a:r>
            <a:r>
              <a:rPr spc="-10" dirty="0"/>
              <a:t>Example</a:t>
            </a: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2650" dirty="0"/>
              <a:t>Example</a:t>
            </a:r>
            <a:r>
              <a:rPr sz="2650" spc="-10" dirty="0"/>
              <a:t> Email:</a:t>
            </a:r>
            <a:endParaRPr sz="2650"/>
          </a:p>
        </p:txBody>
      </p:sp>
      <p:sp>
        <p:nvSpPr>
          <p:cNvPr id="4" name="object 4"/>
          <p:cNvSpPr txBox="1"/>
          <p:nvPr/>
        </p:nvSpPr>
        <p:spPr>
          <a:xfrm>
            <a:off x="6608191" y="3297478"/>
            <a:ext cx="6434455" cy="763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8300"/>
              </a:lnSpc>
              <a:spcBef>
                <a:spcPts val="100"/>
              </a:spcBef>
            </a:pPr>
            <a:r>
              <a:rPr sz="1750" spc="-40" dirty="0">
                <a:solidFill>
                  <a:srgbClr val="E4DFDF"/>
                </a:solidFill>
                <a:latin typeface="Trebuchet MS"/>
                <a:cs typeface="Trebuchet MS"/>
              </a:rPr>
              <a:t>"PayPal:</a:t>
            </a:r>
            <a:r>
              <a:rPr sz="1750" spc="-8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We</a:t>
            </a:r>
            <a:r>
              <a:rPr sz="1750" spc="-8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40" dirty="0">
                <a:solidFill>
                  <a:srgbClr val="E4DFDF"/>
                </a:solidFill>
                <a:latin typeface="Trebuchet MS"/>
                <a:cs typeface="Trebuchet MS"/>
              </a:rPr>
              <a:t>noticed</a:t>
            </a:r>
            <a:r>
              <a:rPr sz="17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unusual</a:t>
            </a:r>
            <a:r>
              <a:rPr sz="1750" spc="-65" dirty="0">
                <a:solidFill>
                  <a:srgbClr val="E4DFDF"/>
                </a:solidFill>
                <a:latin typeface="Trebuchet MS"/>
                <a:cs typeface="Trebuchet MS"/>
              </a:rPr>
              <a:t> activity</a:t>
            </a:r>
            <a:r>
              <a:rPr sz="1750" spc="-8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on</a:t>
            </a:r>
            <a:r>
              <a:rPr sz="1750" spc="-7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E4DFDF"/>
                </a:solidFill>
                <a:latin typeface="Trebuchet MS"/>
                <a:cs typeface="Trebuchet MS"/>
              </a:rPr>
              <a:t>your</a:t>
            </a:r>
            <a:r>
              <a:rPr sz="1750" spc="-8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35" dirty="0">
                <a:solidFill>
                  <a:srgbClr val="E4DFDF"/>
                </a:solidFill>
                <a:latin typeface="Trebuchet MS"/>
                <a:cs typeface="Trebuchet MS"/>
              </a:rPr>
              <a:t>account.</a:t>
            </a:r>
            <a:r>
              <a:rPr sz="1750" spc="-7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35" dirty="0">
                <a:solidFill>
                  <a:srgbClr val="E4DFDF"/>
                </a:solidFill>
                <a:latin typeface="Trebuchet MS"/>
                <a:cs typeface="Trebuchet MS"/>
              </a:rPr>
              <a:t>Click</a:t>
            </a:r>
            <a:r>
              <a:rPr sz="1750" spc="-9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50" dirty="0">
                <a:solidFill>
                  <a:srgbClr val="E4DFDF"/>
                </a:solidFill>
                <a:latin typeface="Trebuchet MS"/>
                <a:cs typeface="Trebuchet MS"/>
              </a:rPr>
              <a:t>here</a:t>
            </a:r>
            <a:r>
              <a:rPr sz="1750" spc="-8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E4DFDF"/>
                </a:solidFill>
                <a:latin typeface="Trebuchet MS"/>
                <a:cs typeface="Trebuchet MS"/>
              </a:rPr>
              <a:t>to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confirm."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80150" y="3102724"/>
            <a:ext cx="30480" cy="1236345"/>
          </a:xfrm>
          <a:custGeom>
            <a:avLst/>
            <a:gdLst/>
            <a:ahLst/>
            <a:cxnLst/>
            <a:rect l="l" t="t" r="r" b="b"/>
            <a:pathLst>
              <a:path w="30479" h="1236345">
                <a:moveTo>
                  <a:pt x="30479" y="0"/>
                </a:moveTo>
                <a:lnTo>
                  <a:pt x="0" y="0"/>
                </a:lnTo>
                <a:lnTo>
                  <a:pt x="0" y="1236103"/>
                </a:lnTo>
                <a:lnTo>
                  <a:pt x="30479" y="1236103"/>
                </a:lnTo>
                <a:lnTo>
                  <a:pt x="30479" y="0"/>
                </a:lnTo>
                <a:close/>
              </a:path>
            </a:pathLst>
          </a:custGeom>
          <a:solidFill>
            <a:srgbClr val="F1F1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67958" y="4644390"/>
            <a:ext cx="302641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spc="55" dirty="0">
                <a:solidFill>
                  <a:srgbClr val="F1F1F3"/>
                </a:solidFill>
                <a:latin typeface="Lucida Sans Unicode"/>
                <a:cs typeface="Lucida Sans Unicode"/>
              </a:rPr>
              <a:t>What's</a:t>
            </a:r>
            <a:r>
              <a:rPr sz="2650" spc="-145" dirty="0">
                <a:solidFill>
                  <a:srgbClr val="F1F1F3"/>
                </a:solidFill>
                <a:latin typeface="Lucida Sans Unicode"/>
                <a:cs typeface="Lucida Sans Unicode"/>
              </a:rPr>
              <a:t> </a:t>
            </a:r>
            <a:r>
              <a:rPr sz="2650" spc="-10" dirty="0">
                <a:solidFill>
                  <a:srgbClr val="F1F1F3"/>
                </a:solidFill>
                <a:latin typeface="Lucida Sans Unicode"/>
                <a:cs typeface="Lucida Sans Unicode"/>
              </a:rPr>
              <a:t>suspicious:</a:t>
            </a:r>
            <a:endParaRPr sz="265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67958" y="5486146"/>
            <a:ext cx="4802505" cy="1177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Unknown</a:t>
            </a:r>
            <a:r>
              <a:rPr sz="1750" spc="-6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sender</a:t>
            </a:r>
            <a:r>
              <a:rPr sz="1750" spc="-7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address</a:t>
            </a:r>
            <a:endParaRPr sz="175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</a:tabLst>
            </a:pP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Poor</a:t>
            </a:r>
            <a:r>
              <a:rPr sz="1750" spc="-3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grammar</a:t>
            </a:r>
            <a:endParaRPr sz="175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</a:tabLst>
            </a:pP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Fake</a:t>
            </a:r>
            <a:r>
              <a:rPr sz="1750" spc="-8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75" dirty="0">
                <a:solidFill>
                  <a:srgbClr val="E4DFDF"/>
                </a:solidFill>
                <a:latin typeface="Trebuchet MS"/>
                <a:cs typeface="Trebuchet MS"/>
              </a:rPr>
              <a:t>link</a:t>
            </a:r>
            <a:r>
              <a:rPr sz="17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(does</a:t>
            </a:r>
            <a:r>
              <a:rPr sz="1750" spc="-9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40" dirty="0">
                <a:solidFill>
                  <a:srgbClr val="E4DFDF"/>
                </a:solidFill>
                <a:latin typeface="Trebuchet MS"/>
                <a:cs typeface="Trebuchet MS"/>
              </a:rPr>
              <a:t>not</a:t>
            </a:r>
            <a:r>
              <a:rPr sz="1750" spc="-9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50" dirty="0">
                <a:solidFill>
                  <a:srgbClr val="E4DFDF"/>
                </a:solidFill>
                <a:latin typeface="Trebuchet MS"/>
                <a:cs typeface="Trebuchet MS"/>
              </a:rPr>
              <a:t>lead</a:t>
            </a:r>
            <a:r>
              <a:rPr sz="1750" spc="-10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55" dirty="0">
                <a:solidFill>
                  <a:srgbClr val="E4DFDF"/>
                </a:solidFill>
                <a:latin typeface="Trebuchet MS"/>
                <a:cs typeface="Trebuchet MS"/>
              </a:rPr>
              <a:t>to</a:t>
            </a:r>
            <a:r>
              <a:rPr sz="1750" spc="-8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60" dirty="0">
                <a:solidFill>
                  <a:srgbClr val="E4DFDF"/>
                </a:solidFill>
                <a:latin typeface="Trebuchet MS"/>
                <a:cs typeface="Trebuchet MS"/>
              </a:rPr>
              <a:t>official</a:t>
            </a:r>
            <a:r>
              <a:rPr sz="1750" spc="-12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PayPal</a:t>
            </a:r>
            <a:r>
              <a:rPr sz="1750" spc="-8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site)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1304" y="2022805"/>
            <a:ext cx="4219575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Prevention</a:t>
            </a:r>
            <a:r>
              <a:rPr spc="245" dirty="0"/>
              <a:t> </a:t>
            </a:r>
            <a:r>
              <a:rPr spc="-130" dirty="0"/>
              <a:t>Tips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9978" y="3226054"/>
            <a:ext cx="4204335" cy="2940050"/>
            <a:chOff x="789978" y="3226054"/>
            <a:chExt cx="4204335" cy="2940050"/>
          </a:xfrm>
        </p:grpSpPr>
        <p:sp>
          <p:nvSpPr>
            <p:cNvPr id="4" name="object 4"/>
            <p:cNvSpPr/>
            <p:nvPr/>
          </p:nvSpPr>
          <p:spPr>
            <a:xfrm>
              <a:off x="793788" y="3229864"/>
              <a:ext cx="4196715" cy="2932430"/>
            </a:xfrm>
            <a:custGeom>
              <a:avLst/>
              <a:gdLst/>
              <a:ahLst/>
              <a:cxnLst/>
              <a:rect l="l" t="t" r="r" b="b"/>
              <a:pathLst>
                <a:path w="4196715" h="2932429">
                  <a:moveTo>
                    <a:pt x="4101045" y="0"/>
                  </a:moveTo>
                  <a:lnTo>
                    <a:pt x="95275" y="0"/>
                  </a:lnTo>
                  <a:lnTo>
                    <a:pt x="58191" y="7471"/>
                  </a:lnTo>
                  <a:lnTo>
                    <a:pt x="27906" y="27860"/>
                  </a:lnTo>
                  <a:lnTo>
                    <a:pt x="7487" y="58132"/>
                  </a:lnTo>
                  <a:lnTo>
                    <a:pt x="0" y="95250"/>
                  </a:lnTo>
                  <a:lnTo>
                    <a:pt x="0" y="2837053"/>
                  </a:lnTo>
                  <a:lnTo>
                    <a:pt x="7487" y="2874117"/>
                  </a:lnTo>
                  <a:lnTo>
                    <a:pt x="27906" y="2904394"/>
                  </a:lnTo>
                  <a:lnTo>
                    <a:pt x="58191" y="2924813"/>
                  </a:lnTo>
                  <a:lnTo>
                    <a:pt x="95275" y="2932303"/>
                  </a:lnTo>
                  <a:lnTo>
                    <a:pt x="4101045" y="2932303"/>
                  </a:lnTo>
                  <a:lnTo>
                    <a:pt x="4138183" y="2924813"/>
                  </a:lnTo>
                  <a:lnTo>
                    <a:pt x="4168498" y="2904394"/>
                  </a:lnTo>
                  <a:lnTo>
                    <a:pt x="4188931" y="2874117"/>
                  </a:lnTo>
                  <a:lnTo>
                    <a:pt x="4196422" y="2837053"/>
                  </a:lnTo>
                  <a:lnTo>
                    <a:pt x="4196422" y="95250"/>
                  </a:lnTo>
                  <a:lnTo>
                    <a:pt x="4188931" y="58132"/>
                  </a:lnTo>
                  <a:lnTo>
                    <a:pt x="4168498" y="27860"/>
                  </a:lnTo>
                  <a:lnTo>
                    <a:pt x="4138183" y="7471"/>
                  </a:lnTo>
                  <a:lnTo>
                    <a:pt x="4101045" y="0"/>
                  </a:lnTo>
                  <a:close/>
                </a:path>
              </a:pathLst>
            </a:custGeom>
            <a:solidFill>
              <a:srgbClr val="5F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3788" y="3229864"/>
              <a:ext cx="4196715" cy="2932430"/>
            </a:xfrm>
            <a:custGeom>
              <a:avLst/>
              <a:gdLst/>
              <a:ahLst/>
              <a:cxnLst/>
              <a:rect l="l" t="t" r="r" b="b"/>
              <a:pathLst>
                <a:path w="4196715" h="2932429">
                  <a:moveTo>
                    <a:pt x="0" y="95250"/>
                  </a:moveTo>
                  <a:lnTo>
                    <a:pt x="7487" y="58132"/>
                  </a:lnTo>
                  <a:lnTo>
                    <a:pt x="27906" y="27860"/>
                  </a:lnTo>
                  <a:lnTo>
                    <a:pt x="58191" y="7471"/>
                  </a:lnTo>
                  <a:lnTo>
                    <a:pt x="95275" y="0"/>
                  </a:lnTo>
                  <a:lnTo>
                    <a:pt x="4101045" y="0"/>
                  </a:lnTo>
                  <a:lnTo>
                    <a:pt x="4138183" y="7471"/>
                  </a:lnTo>
                  <a:lnTo>
                    <a:pt x="4168498" y="27860"/>
                  </a:lnTo>
                  <a:lnTo>
                    <a:pt x="4188931" y="58132"/>
                  </a:lnTo>
                  <a:lnTo>
                    <a:pt x="4196422" y="95250"/>
                  </a:lnTo>
                  <a:lnTo>
                    <a:pt x="4196422" y="2837053"/>
                  </a:lnTo>
                  <a:lnTo>
                    <a:pt x="4188931" y="2874117"/>
                  </a:lnTo>
                  <a:lnTo>
                    <a:pt x="4168498" y="2904394"/>
                  </a:lnTo>
                  <a:lnTo>
                    <a:pt x="4138183" y="2924813"/>
                  </a:lnTo>
                  <a:lnTo>
                    <a:pt x="4101045" y="2932303"/>
                  </a:lnTo>
                  <a:lnTo>
                    <a:pt x="95275" y="2932303"/>
                  </a:lnTo>
                  <a:lnTo>
                    <a:pt x="58191" y="2924813"/>
                  </a:lnTo>
                  <a:lnTo>
                    <a:pt x="27906" y="2904394"/>
                  </a:lnTo>
                  <a:lnTo>
                    <a:pt x="7487" y="2874117"/>
                  </a:lnTo>
                  <a:lnTo>
                    <a:pt x="0" y="2837053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4683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15695" y="3440048"/>
            <a:ext cx="272923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80" dirty="0">
                <a:latin typeface="Lucida Sans Unicode"/>
                <a:cs typeface="Lucida Sans Unicode"/>
              </a:rPr>
              <a:t>Secure</a:t>
            </a:r>
            <a:r>
              <a:rPr sz="2200" spc="-100" dirty="0">
                <a:latin typeface="Lucida Sans Unicode"/>
                <a:cs typeface="Lucida Sans Unicode"/>
              </a:rPr>
              <a:t> </a:t>
            </a:r>
            <a:r>
              <a:rPr sz="2200" spc="-45" dirty="0">
                <a:latin typeface="Lucida Sans Unicode"/>
                <a:cs typeface="Lucida Sans Unicode"/>
              </a:rPr>
              <a:t>Your</a:t>
            </a:r>
            <a:r>
              <a:rPr sz="2200" spc="-100" dirty="0">
                <a:latin typeface="Lucida Sans Unicode"/>
                <a:cs typeface="Lucida Sans Unicode"/>
              </a:rPr>
              <a:t> </a:t>
            </a:r>
            <a:r>
              <a:rPr sz="2200" spc="60" dirty="0">
                <a:latin typeface="Lucida Sans Unicode"/>
                <a:cs typeface="Lucida Sans Unicode"/>
              </a:rPr>
              <a:t>Access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5695" y="3894695"/>
            <a:ext cx="3497579" cy="200469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</a:tabLst>
            </a:pPr>
            <a:r>
              <a:rPr sz="1750" spc="50" dirty="0">
                <a:latin typeface="Trebuchet MS"/>
                <a:cs typeface="Trebuchet MS"/>
              </a:rPr>
              <a:t>Do</a:t>
            </a:r>
            <a:r>
              <a:rPr sz="1750" spc="-95" dirty="0">
                <a:latin typeface="Trebuchet MS"/>
                <a:cs typeface="Trebuchet MS"/>
              </a:rPr>
              <a:t> </a:t>
            </a:r>
            <a:r>
              <a:rPr sz="1750" spc="-35" dirty="0">
                <a:latin typeface="Trebuchet MS"/>
                <a:cs typeface="Trebuchet MS"/>
              </a:rPr>
              <a:t>not</a:t>
            </a:r>
            <a:r>
              <a:rPr sz="1750" spc="-80" dirty="0">
                <a:latin typeface="Trebuchet MS"/>
                <a:cs typeface="Trebuchet MS"/>
              </a:rPr>
              <a:t> </a:t>
            </a:r>
            <a:r>
              <a:rPr sz="1750" spc="-45" dirty="0">
                <a:latin typeface="Trebuchet MS"/>
                <a:cs typeface="Trebuchet MS"/>
              </a:rPr>
              <a:t>click</a:t>
            </a:r>
            <a:r>
              <a:rPr sz="1750" spc="-10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unknown</a:t>
            </a:r>
            <a:r>
              <a:rPr sz="1750" spc="-80" dirty="0">
                <a:latin typeface="Trebuchet MS"/>
                <a:cs typeface="Trebuchet MS"/>
              </a:rPr>
              <a:t> </a:t>
            </a:r>
            <a:r>
              <a:rPr sz="1750" spc="-25" dirty="0">
                <a:latin typeface="Trebuchet MS"/>
                <a:cs typeface="Trebuchet MS"/>
              </a:rPr>
              <a:t>links</a:t>
            </a:r>
            <a:r>
              <a:rPr sz="1750" spc="-100" dirty="0">
                <a:latin typeface="Trebuchet MS"/>
                <a:cs typeface="Trebuchet MS"/>
              </a:rPr>
              <a:t> </a:t>
            </a:r>
            <a:r>
              <a:rPr sz="1750" spc="-25" dirty="0">
                <a:latin typeface="Trebuchet MS"/>
                <a:cs typeface="Trebuchet MS"/>
              </a:rPr>
              <a:t>or</a:t>
            </a:r>
            <a:endParaRPr sz="175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805"/>
              </a:spcBef>
            </a:pPr>
            <a:r>
              <a:rPr sz="1750" spc="-10" dirty="0">
                <a:latin typeface="Trebuchet MS"/>
                <a:cs typeface="Trebuchet MS"/>
              </a:rPr>
              <a:t>attachments</a:t>
            </a:r>
            <a:endParaRPr sz="1750">
              <a:latin typeface="Trebuchet MS"/>
              <a:cs typeface="Trebuchet MS"/>
            </a:endParaRPr>
          </a:p>
          <a:p>
            <a:pPr marL="355600" marR="166370" indent="-343535">
              <a:lnSpc>
                <a:spcPct val="138300"/>
              </a:lnSpc>
              <a:spcBef>
                <a:spcPts val="530"/>
              </a:spcBef>
              <a:buChar char="•"/>
              <a:tabLst>
                <a:tab pos="355600" algn="l"/>
              </a:tabLst>
            </a:pPr>
            <a:r>
              <a:rPr sz="1750" dirty="0">
                <a:latin typeface="Trebuchet MS"/>
                <a:cs typeface="Trebuchet MS"/>
              </a:rPr>
              <a:t>Use </a:t>
            </a:r>
            <a:r>
              <a:rPr sz="1750" spc="-85" dirty="0">
                <a:latin typeface="Trebuchet MS"/>
                <a:cs typeface="Trebuchet MS"/>
              </a:rPr>
              <a:t>multi-</a:t>
            </a:r>
            <a:r>
              <a:rPr sz="1750" spc="-60" dirty="0">
                <a:latin typeface="Trebuchet MS"/>
                <a:cs typeface="Trebuchet MS"/>
              </a:rPr>
              <a:t>factor</a:t>
            </a:r>
            <a:r>
              <a:rPr sz="1750" spc="-55" dirty="0">
                <a:latin typeface="Trebuchet MS"/>
                <a:cs typeface="Trebuchet MS"/>
              </a:rPr>
              <a:t> </a:t>
            </a:r>
            <a:r>
              <a:rPr sz="1750" spc="-50" dirty="0">
                <a:latin typeface="Trebuchet MS"/>
                <a:cs typeface="Trebuchet MS"/>
              </a:rPr>
              <a:t>authentication </a:t>
            </a:r>
            <a:r>
              <a:rPr sz="1750" spc="-10" dirty="0">
                <a:latin typeface="Trebuchet MS"/>
                <a:cs typeface="Trebuchet MS"/>
              </a:rPr>
              <a:t>(MFA)</a:t>
            </a:r>
            <a:endParaRPr sz="175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335"/>
              </a:spcBef>
              <a:buChar char="•"/>
              <a:tabLst>
                <a:tab pos="354965" algn="l"/>
              </a:tabLst>
            </a:pPr>
            <a:r>
              <a:rPr sz="1750" spc="-20" dirty="0">
                <a:latin typeface="Trebuchet MS"/>
                <a:cs typeface="Trebuchet MS"/>
              </a:rPr>
              <a:t>Never</a:t>
            </a:r>
            <a:r>
              <a:rPr sz="1750" spc="-12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share</a:t>
            </a:r>
            <a:r>
              <a:rPr sz="1750" spc="-80" dirty="0">
                <a:latin typeface="Trebuchet MS"/>
                <a:cs typeface="Trebuchet MS"/>
              </a:rPr>
              <a:t> </a:t>
            </a:r>
            <a:r>
              <a:rPr sz="1750" spc="75" dirty="0">
                <a:latin typeface="Trebuchet MS"/>
                <a:cs typeface="Trebuchet MS"/>
              </a:rPr>
              <a:t>OTPs</a:t>
            </a:r>
            <a:r>
              <a:rPr sz="1750" spc="-85" dirty="0">
                <a:latin typeface="Trebuchet MS"/>
                <a:cs typeface="Trebuchet MS"/>
              </a:rPr>
              <a:t> </a:t>
            </a:r>
            <a:r>
              <a:rPr sz="1750" spc="-30" dirty="0">
                <a:latin typeface="Trebuchet MS"/>
                <a:cs typeface="Trebuchet MS"/>
              </a:rPr>
              <a:t>or</a:t>
            </a:r>
            <a:r>
              <a:rPr sz="1750" spc="-85" dirty="0">
                <a:latin typeface="Trebuchet MS"/>
                <a:cs typeface="Trebuchet MS"/>
              </a:rPr>
              <a:t> </a:t>
            </a:r>
            <a:r>
              <a:rPr sz="1750" spc="40" dirty="0">
                <a:latin typeface="Trebuchet MS"/>
                <a:cs typeface="Trebuchet MS"/>
              </a:rPr>
              <a:t>passwords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213096" y="3226054"/>
            <a:ext cx="4204335" cy="2940050"/>
            <a:chOff x="5213096" y="3226054"/>
            <a:chExt cx="4204335" cy="2940050"/>
          </a:xfrm>
        </p:grpSpPr>
        <p:sp>
          <p:nvSpPr>
            <p:cNvPr id="9" name="object 9"/>
            <p:cNvSpPr/>
            <p:nvPr/>
          </p:nvSpPr>
          <p:spPr>
            <a:xfrm>
              <a:off x="5216906" y="3229864"/>
              <a:ext cx="4196715" cy="2932430"/>
            </a:xfrm>
            <a:custGeom>
              <a:avLst/>
              <a:gdLst/>
              <a:ahLst/>
              <a:cxnLst/>
              <a:rect l="l" t="t" r="r" b="b"/>
              <a:pathLst>
                <a:path w="4196715" h="2932429">
                  <a:moveTo>
                    <a:pt x="4101084" y="0"/>
                  </a:moveTo>
                  <a:lnTo>
                    <a:pt x="95377" y="0"/>
                  </a:lnTo>
                  <a:lnTo>
                    <a:pt x="58239" y="7471"/>
                  </a:lnTo>
                  <a:lnTo>
                    <a:pt x="27924" y="27860"/>
                  </a:lnTo>
                  <a:lnTo>
                    <a:pt x="7491" y="58132"/>
                  </a:lnTo>
                  <a:lnTo>
                    <a:pt x="0" y="95250"/>
                  </a:lnTo>
                  <a:lnTo>
                    <a:pt x="0" y="2837053"/>
                  </a:lnTo>
                  <a:lnTo>
                    <a:pt x="7491" y="2874117"/>
                  </a:lnTo>
                  <a:lnTo>
                    <a:pt x="27924" y="2904394"/>
                  </a:lnTo>
                  <a:lnTo>
                    <a:pt x="58239" y="2924813"/>
                  </a:lnTo>
                  <a:lnTo>
                    <a:pt x="95377" y="2932303"/>
                  </a:lnTo>
                  <a:lnTo>
                    <a:pt x="4101084" y="2932303"/>
                  </a:lnTo>
                  <a:lnTo>
                    <a:pt x="4138221" y="2924813"/>
                  </a:lnTo>
                  <a:lnTo>
                    <a:pt x="4168536" y="2904394"/>
                  </a:lnTo>
                  <a:lnTo>
                    <a:pt x="4188969" y="2874117"/>
                  </a:lnTo>
                  <a:lnTo>
                    <a:pt x="4196461" y="2837053"/>
                  </a:lnTo>
                  <a:lnTo>
                    <a:pt x="4196461" y="95250"/>
                  </a:lnTo>
                  <a:lnTo>
                    <a:pt x="4188969" y="58132"/>
                  </a:lnTo>
                  <a:lnTo>
                    <a:pt x="4168536" y="27860"/>
                  </a:lnTo>
                  <a:lnTo>
                    <a:pt x="4138221" y="7471"/>
                  </a:lnTo>
                  <a:lnTo>
                    <a:pt x="4101084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16906" y="3229864"/>
              <a:ext cx="4196715" cy="2932430"/>
            </a:xfrm>
            <a:custGeom>
              <a:avLst/>
              <a:gdLst/>
              <a:ahLst/>
              <a:cxnLst/>
              <a:rect l="l" t="t" r="r" b="b"/>
              <a:pathLst>
                <a:path w="4196715" h="2932429">
                  <a:moveTo>
                    <a:pt x="0" y="95250"/>
                  </a:moveTo>
                  <a:lnTo>
                    <a:pt x="7491" y="58132"/>
                  </a:lnTo>
                  <a:lnTo>
                    <a:pt x="27924" y="27860"/>
                  </a:lnTo>
                  <a:lnTo>
                    <a:pt x="58239" y="7471"/>
                  </a:lnTo>
                  <a:lnTo>
                    <a:pt x="95377" y="0"/>
                  </a:lnTo>
                  <a:lnTo>
                    <a:pt x="4101084" y="0"/>
                  </a:lnTo>
                  <a:lnTo>
                    <a:pt x="4138221" y="7471"/>
                  </a:lnTo>
                  <a:lnTo>
                    <a:pt x="4168536" y="27860"/>
                  </a:lnTo>
                  <a:lnTo>
                    <a:pt x="4188969" y="58132"/>
                  </a:lnTo>
                  <a:lnTo>
                    <a:pt x="4196461" y="95250"/>
                  </a:lnTo>
                  <a:lnTo>
                    <a:pt x="4196461" y="2837053"/>
                  </a:lnTo>
                  <a:lnTo>
                    <a:pt x="4188969" y="2874117"/>
                  </a:lnTo>
                  <a:lnTo>
                    <a:pt x="4168536" y="2904394"/>
                  </a:lnTo>
                  <a:lnTo>
                    <a:pt x="4138221" y="2924813"/>
                  </a:lnTo>
                  <a:lnTo>
                    <a:pt x="4101084" y="2932303"/>
                  </a:lnTo>
                  <a:lnTo>
                    <a:pt x="95377" y="2932303"/>
                  </a:lnTo>
                  <a:lnTo>
                    <a:pt x="58239" y="2924813"/>
                  </a:lnTo>
                  <a:lnTo>
                    <a:pt x="27924" y="2904394"/>
                  </a:lnTo>
                  <a:lnTo>
                    <a:pt x="7491" y="2874117"/>
                  </a:lnTo>
                  <a:lnTo>
                    <a:pt x="0" y="2837053"/>
                  </a:lnTo>
                  <a:lnTo>
                    <a:pt x="0" y="95250"/>
                  </a:lnTo>
                  <a:close/>
                </a:path>
              </a:pathLst>
            </a:custGeom>
            <a:ln w="7620">
              <a:solidFill>
                <a:srgbClr val="1A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39283" y="3440048"/>
            <a:ext cx="32404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Keep</a:t>
            </a:r>
            <a:r>
              <a:rPr sz="2200" spc="14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Systems</a:t>
            </a:r>
            <a:r>
              <a:rPr sz="2200" spc="1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60" dirty="0">
                <a:solidFill>
                  <a:srgbClr val="FFFFFF"/>
                </a:solidFill>
                <a:latin typeface="Lucida Sans Unicode"/>
                <a:cs typeface="Lucida Sans Unicode"/>
              </a:rPr>
              <a:t>Updated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39283" y="3996055"/>
            <a:ext cx="3503929" cy="734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1750" spc="-10" dirty="0">
                <a:solidFill>
                  <a:srgbClr val="FFFFFF"/>
                </a:solidFill>
                <a:latin typeface="Trebuchet MS"/>
                <a:cs typeface="Trebuchet MS"/>
              </a:rPr>
              <a:t>Keep</a:t>
            </a:r>
            <a:r>
              <a:rPr sz="17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40" dirty="0">
                <a:solidFill>
                  <a:srgbClr val="FFFFFF"/>
                </a:solidFill>
                <a:latin typeface="Trebuchet MS"/>
                <a:cs typeface="Trebuchet MS"/>
              </a:rPr>
              <a:t>antivirus</a:t>
            </a:r>
            <a:r>
              <a:rPr sz="175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Trebuchet MS"/>
                <a:cs typeface="Trebuchet MS"/>
              </a:rPr>
              <a:t>software</a:t>
            </a:r>
            <a:r>
              <a:rPr sz="175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Trebuchet MS"/>
                <a:cs typeface="Trebuchet MS"/>
              </a:rPr>
              <a:t>updated</a:t>
            </a:r>
            <a:endParaRPr sz="175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</a:tabLst>
            </a:pPr>
            <a:r>
              <a:rPr sz="1750" spc="-10" dirty="0">
                <a:solidFill>
                  <a:srgbClr val="FFFFFF"/>
                </a:solidFill>
                <a:latin typeface="Trebuchet MS"/>
                <a:cs typeface="Trebuchet MS"/>
              </a:rPr>
              <a:t>Keep</a:t>
            </a:r>
            <a:r>
              <a:rPr sz="175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FFFFFF"/>
                </a:solidFill>
                <a:latin typeface="Trebuchet MS"/>
                <a:cs typeface="Trebuchet MS"/>
              </a:rPr>
              <a:t>browsers</a:t>
            </a:r>
            <a:r>
              <a:rPr sz="17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Trebuchet MS"/>
                <a:cs typeface="Trebuchet MS"/>
              </a:rPr>
              <a:t>updated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636379" y="3226054"/>
            <a:ext cx="4204335" cy="2940050"/>
            <a:chOff x="9636379" y="3226054"/>
            <a:chExt cx="4204335" cy="2940050"/>
          </a:xfrm>
        </p:grpSpPr>
        <p:sp>
          <p:nvSpPr>
            <p:cNvPr id="14" name="object 14"/>
            <p:cNvSpPr/>
            <p:nvPr/>
          </p:nvSpPr>
          <p:spPr>
            <a:xfrm>
              <a:off x="9640189" y="3229864"/>
              <a:ext cx="4196715" cy="2932430"/>
            </a:xfrm>
            <a:custGeom>
              <a:avLst/>
              <a:gdLst/>
              <a:ahLst/>
              <a:cxnLst/>
              <a:rect l="l" t="t" r="r" b="b"/>
              <a:pathLst>
                <a:path w="4196715" h="2932429">
                  <a:moveTo>
                    <a:pt x="4101083" y="0"/>
                  </a:moveTo>
                  <a:lnTo>
                    <a:pt x="95250" y="0"/>
                  </a:lnTo>
                  <a:lnTo>
                    <a:pt x="58132" y="7471"/>
                  </a:lnTo>
                  <a:lnTo>
                    <a:pt x="27860" y="27860"/>
                  </a:lnTo>
                  <a:lnTo>
                    <a:pt x="7471" y="58132"/>
                  </a:lnTo>
                  <a:lnTo>
                    <a:pt x="0" y="95250"/>
                  </a:lnTo>
                  <a:lnTo>
                    <a:pt x="0" y="2837053"/>
                  </a:lnTo>
                  <a:lnTo>
                    <a:pt x="7471" y="2874117"/>
                  </a:lnTo>
                  <a:lnTo>
                    <a:pt x="27860" y="2904394"/>
                  </a:lnTo>
                  <a:lnTo>
                    <a:pt x="58132" y="2924813"/>
                  </a:lnTo>
                  <a:lnTo>
                    <a:pt x="95250" y="2932303"/>
                  </a:lnTo>
                  <a:lnTo>
                    <a:pt x="4101083" y="2932303"/>
                  </a:lnTo>
                  <a:lnTo>
                    <a:pt x="4138148" y="2924813"/>
                  </a:lnTo>
                  <a:lnTo>
                    <a:pt x="4168425" y="2904394"/>
                  </a:lnTo>
                  <a:lnTo>
                    <a:pt x="4188844" y="2874117"/>
                  </a:lnTo>
                  <a:lnTo>
                    <a:pt x="4196333" y="2837053"/>
                  </a:lnTo>
                  <a:lnTo>
                    <a:pt x="4196333" y="95250"/>
                  </a:lnTo>
                  <a:lnTo>
                    <a:pt x="4188844" y="58132"/>
                  </a:lnTo>
                  <a:lnTo>
                    <a:pt x="4168425" y="27860"/>
                  </a:lnTo>
                  <a:lnTo>
                    <a:pt x="4138148" y="7471"/>
                  </a:lnTo>
                  <a:lnTo>
                    <a:pt x="4101083" y="0"/>
                  </a:lnTo>
                  <a:close/>
                </a:path>
              </a:pathLst>
            </a:custGeom>
            <a:solidFill>
              <a:srgbClr val="041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40189" y="3229864"/>
              <a:ext cx="4196715" cy="2932430"/>
            </a:xfrm>
            <a:custGeom>
              <a:avLst/>
              <a:gdLst/>
              <a:ahLst/>
              <a:cxnLst/>
              <a:rect l="l" t="t" r="r" b="b"/>
              <a:pathLst>
                <a:path w="4196715" h="2932429">
                  <a:moveTo>
                    <a:pt x="0" y="95250"/>
                  </a:moveTo>
                  <a:lnTo>
                    <a:pt x="7471" y="58132"/>
                  </a:lnTo>
                  <a:lnTo>
                    <a:pt x="27860" y="27860"/>
                  </a:lnTo>
                  <a:lnTo>
                    <a:pt x="58132" y="7471"/>
                  </a:lnTo>
                  <a:lnTo>
                    <a:pt x="95250" y="0"/>
                  </a:lnTo>
                  <a:lnTo>
                    <a:pt x="4101083" y="0"/>
                  </a:lnTo>
                  <a:lnTo>
                    <a:pt x="4138148" y="7471"/>
                  </a:lnTo>
                  <a:lnTo>
                    <a:pt x="4168425" y="27860"/>
                  </a:lnTo>
                  <a:lnTo>
                    <a:pt x="4188844" y="58132"/>
                  </a:lnTo>
                  <a:lnTo>
                    <a:pt x="4196333" y="95250"/>
                  </a:lnTo>
                  <a:lnTo>
                    <a:pt x="4196333" y="2837053"/>
                  </a:lnTo>
                  <a:lnTo>
                    <a:pt x="4188844" y="2874117"/>
                  </a:lnTo>
                  <a:lnTo>
                    <a:pt x="4168425" y="2904394"/>
                  </a:lnTo>
                  <a:lnTo>
                    <a:pt x="4138148" y="2924813"/>
                  </a:lnTo>
                  <a:lnTo>
                    <a:pt x="4101083" y="2932303"/>
                  </a:lnTo>
                  <a:lnTo>
                    <a:pt x="95250" y="2932303"/>
                  </a:lnTo>
                  <a:lnTo>
                    <a:pt x="58132" y="2924813"/>
                  </a:lnTo>
                  <a:lnTo>
                    <a:pt x="27860" y="2904394"/>
                  </a:lnTo>
                  <a:lnTo>
                    <a:pt x="7471" y="2874117"/>
                  </a:lnTo>
                  <a:lnTo>
                    <a:pt x="0" y="2837053"/>
                  </a:lnTo>
                  <a:lnTo>
                    <a:pt x="0" y="95250"/>
                  </a:lnTo>
                  <a:close/>
                </a:path>
              </a:pathLst>
            </a:custGeom>
            <a:ln w="7619">
              <a:solidFill>
                <a:srgbClr val="1D3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862819" y="3440048"/>
            <a:ext cx="32677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Verify</a:t>
            </a:r>
            <a:r>
              <a:rPr sz="22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Communications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862819" y="3894695"/>
            <a:ext cx="3716654" cy="7626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00"/>
              </a:spcBef>
              <a:buChar char="•"/>
              <a:tabLst>
                <a:tab pos="354965" algn="l"/>
              </a:tabLst>
            </a:pPr>
            <a:r>
              <a:rPr sz="1750" spc="-55" dirty="0">
                <a:solidFill>
                  <a:srgbClr val="FFFFFF"/>
                </a:solidFill>
                <a:latin typeface="Trebuchet MS"/>
                <a:cs typeface="Trebuchet MS"/>
              </a:rPr>
              <a:t>Verify</a:t>
            </a:r>
            <a:r>
              <a:rPr sz="1750" spc="-1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80" dirty="0">
                <a:solidFill>
                  <a:srgbClr val="FFFFFF"/>
                </a:solidFill>
                <a:latin typeface="Trebuchet MS"/>
                <a:cs typeface="Trebuchet MS"/>
              </a:rPr>
              <a:t>messages</a:t>
            </a:r>
            <a:r>
              <a:rPr sz="1750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sz="175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Trebuchet MS"/>
                <a:cs typeface="Trebuchet MS"/>
              </a:rPr>
              <a:t>contacting</a:t>
            </a:r>
            <a:r>
              <a:rPr sz="175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endParaRPr sz="175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805"/>
              </a:spcBef>
            </a:pPr>
            <a:r>
              <a:rPr sz="1750" spc="-25" dirty="0">
                <a:solidFill>
                  <a:srgbClr val="FFFFFF"/>
                </a:solidFill>
                <a:latin typeface="Trebuchet MS"/>
                <a:cs typeface="Trebuchet MS"/>
              </a:rPr>
              <a:t>organization</a:t>
            </a:r>
            <a:r>
              <a:rPr sz="175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Trebuchet MS"/>
                <a:cs typeface="Trebuchet MS"/>
              </a:rPr>
              <a:t>directly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0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215" dirty="0"/>
              <a:t> </a:t>
            </a:r>
            <a:r>
              <a:rPr dirty="0"/>
              <a:t>Organizations</a:t>
            </a:r>
            <a:r>
              <a:rPr spc="-195" dirty="0"/>
              <a:t> </a:t>
            </a:r>
            <a:r>
              <a:rPr spc="65" dirty="0"/>
              <a:t>Prevent</a:t>
            </a:r>
            <a:r>
              <a:rPr spc="-229" dirty="0"/>
              <a:t> </a:t>
            </a:r>
            <a:r>
              <a:rPr spc="-10" dirty="0"/>
              <a:t>Phishing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4" y="3441180"/>
            <a:ext cx="4222115" cy="2207260"/>
          </a:xfrm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  <a:tabLst>
                <a:tab pos="4208145" algn="l"/>
              </a:tabLst>
            </a:pPr>
            <a:r>
              <a:rPr sz="1750" u="heavy" spc="-350" dirty="0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cs typeface="Lucida Sans Unicode"/>
              </a:rPr>
              <a:t>01</a:t>
            </a:r>
            <a:r>
              <a:rPr sz="1750" u="heavy" dirty="0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cs typeface="Lucida Sans Unicode"/>
              </a:rPr>
              <a:t>	</a:t>
            </a:r>
            <a:endParaRPr sz="1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545"/>
              </a:spcBef>
            </a:pPr>
            <a:r>
              <a:rPr sz="2200" spc="50" dirty="0">
                <a:solidFill>
                  <a:srgbClr val="E4DFDF"/>
                </a:solidFill>
                <a:latin typeface="Lucida Sans Unicode"/>
                <a:cs typeface="Lucida Sans Unicode"/>
              </a:rPr>
              <a:t>Employee</a:t>
            </a:r>
            <a:r>
              <a:rPr sz="2200" spc="-8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spc="50" dirty="0">
                <a:solidFill>
                  <a:srgbClr val="E4DFDF"/>
                </a:solidFill>
                <a:latin typeface="Lucida Sans Unicode"/>
                <a:cs typeface="Lucida Sans Unicode"/>
              </a:rPr>
              <a:t>Awareness</a:t>
            </a:r>
            <a:r>
              <a:rPr sz="2200" spc="-90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Lucida Sans Unicode"/>
                <a:cs typeface="Lucida Sans Unicode"/>
              </a:rPr>
              <a:t>Training</a:t>
            </a:r>
            <a:endParaRPr sz="2200">
              <a:latin typeface="Lucida Sans Unicode"/>
              <a:cs typeface="Lucida Sans Unicode"/>
            </a:endParaRPr>
          </a:p>
          <a:p>
            <a:pPr marL="12700" marR="285750">
              <a:lnSpc>
                <a:spcPct val="138300"/>
              </a:lnSpc>
              <a:spcBef>
                <a:spcPts val="940"/>
              </a:spcBef>
            </a:pP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Conduct</a:t>
            </a:r>
            <a:r>
              <a:rPr sz="1750" spc="-5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45" dirty="0">
                <a:solidFill>
                  <a:srgbClr val="E4DFDF"/>
                </a:solidFill>
                <a:latin typeface="Trebuchet MS"/>
                <a:cs typeface="Trebuchet MS"/>
              </a:rPr>
              <a:t>employee</a:t>
            </a:r>
            <a:r>
              <a:rPr sz="1750" spc="-10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awareness</a:t>
            </a:r>
            <a:r>
              <a:rPr sz="1750" spc="-114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training </a:t>
            </a:r>
            <a:r>
              <a:rPr sz="1750" spc="-55" dirty="0">
                <a:solidFill>
                  <a:srgbClr val="E4DFDF"/>
                </a:solidFill>
                <a:latin typeface="Trebuchet MS"/>
                <a:cs typeface="Trebuchet MS"/>
              </a:rPr>
              <a:t>regularly</a:t>
            </a:r>
            <a:r>
              <a:rPr sz="1750" spc="-10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55" dirty="0">
                <a:solidFill>
                  <a:srgbClr val="E4DFDF"/>
                </a:solidFill>
                <a:latin typeface="Trebuchet MS"/>
                <a:cs typeface="Trebuchet MS"/>
              </a:rPr>
              <a:t>to</a:t>
            </a:r>
            <a:r>
              <a:rPr sz="1750" spc="-8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35" dirty="0">
                <a:solidFill>
                  <a:srgbClr val="E4DFDF"/>
                </a:solidFill>
                <a:latin typeface="Trebuchet MS"/>
                <a:cs typeface="Trebuchet MS"/>
              </a:rPr>
              <a:t>educate</a:t>
            </a:r>
            <a:r>
              <a:rPr sz="17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E4DFDF"/>
                </a:solidFill>
                <a:latin typeface="Trebuchet MS"/>
                <a:cs typeface="Trebuchet MS"/>
              </a:rPr>
              <a:t>staff</a:t>
            </a:r>
            <a:r>
              <a:rPr sz="1750" spc="-8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0" dirty="0">
                <a:solidFill>
                  <a:srgbClr val="E4DFDF"/>
                </a:solidFill>
                <a:latin typeface="Trebuchet MS"/>
                <a:cs typeface="Trebuchet MS"/>
              </a:rPr>
              <a:t>about</a:t>
            </a:r>
            <a:r>
              <a:rPr sz="17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phishing threats.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0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  <a:tabLst>
                <a:tab pos="4208145" algn="l"/>
                <a:tab pos="4436110" algn="l"/>
                <a:tab pos="8631555" algn="l"/>
              </a:tabLst>
            </a:pPr>
            <a:r>
              <a:rPr spc="-25" dirty="0"/>
              <a:t>02</a:t>
            </a:r>
            <a:r>
              <a:rPr dirty="0"/>
              <a:t>	</a:t>
            </a:r>
            <a:r>
              <a:rPr u="none" dirty="0"/>
              <a:t>	</a:t>
            </a:r>
            <a:r>
              <a:rPr spc="-25" dirty="0"/>
              <a:t>03</a:t>
            </a:r>
            <a:r>
              <a:rPr dirty="0"/>
              <a:t>	</a:t>
            </a:r>
          </a:p>
          <a:p>
            <a:pPr marL="12700">
              <a:lnSpc>
                <a:spcPct val="100000"/>
              </a:lnSpc>
              <a:spcBef>
                <a:spcPts val="1545"/>
              </a:spcBef>
              <a:tabLst>
                <a:tab pos="4436110" algn="l"/>
              </a:tabLst>
            </a:pPr>
            <a:r>
              <a:rPr sz="2200" u="none" dirty="0"/>
              <a:t>Email</a:t>
            </a:r>
            <a:r>
              <a:rPr sz="2200" u="none" spc="20" dirty="0"/>
              <a:t> </a:t>
            </a:r>
            <a:r>
              <a:rPr sz="2200" u="none" dirty="0"/>
              <a:t>Security</a:t>
            </a:r>
            <a:r>
              <a:rPr sz="2200" u="none" spc="30" dirty="0"/>
              <a:t> </a:t>
            </a:r>
            <a:r>
              <a:rPr sz="2200" u="none" spc="-10" dirty="0"/>
              <a:t>Tools</a:t>
            </a:r>
            <a:r>
              <a:rPr sz="2200" u="none" dirty="0"/>
              <a:t>	Incident</a:t>
            </a:r>
            <a:r>
              <a:rPr sz="2200" u="none" spc="45" dirty="0"/>
              <a:t> </a:t>
            </a:r>
            <a:r>
              <a:rPr sz="2200" u="none" spc="-10" dirty="0"/>
              <a:t>Response</a:t>
            </a:r>
            <a:endParaRPr sz="2200"/>
          </a:p>
          <a:p>
            <a:pPr marL="12700" marR="241300">
              <a:lnSpc>
                <a:spcPct val="138300"/>
              </a:lnSpc>
              <a:spcBef>
                <a:spcPts val="940"/>
              </a:spcBef>
              <a:tabLst>
                <a:tab pos="4436110" algn="l"/>
              </a:tabLst>
            </a:pPr>
            <a:r>
              <a:rPr u="none" dirty="0">
                <a:latin typeface="Trebuchet MS"/>
                <a:cs typeface="Trebuchet MS"/>
              </a:rPr>
              <a:t>Use</a:t>
            </a:r>
            <a:r>
              <a:rPr u="none" spc="-30" dirty="0">
                <a:latin typeface="Trebuchet MS"/>
                <a:cs typeface="Trebuchet MS"/>
              </a:rPr>
              <a:t> </a:t>
            </a:r>
            <a:r>
              <a:rPr u="none" spc="-50" dirty="0">
                <a:latin typeface="Trebuchet MS"/>
                <a:cs typeface="Trebuchet MS"/>
              </a:rPr>
              <a:t>email</a:t>
            </a:r>
            <a:r>
              <a:rPr u="none" spc="-90" dirty="0">
                <a:latin typeface="Trebuchet MS"/>
                <a:cs typeface="Trebuchet MS"/>
              </a:rPr>
              <a:t> </a:t>
            </a:r>
            <a:r>
              <a:rPr u="none" spc="-75" dirty="0">
                <a:latin typeface="Trebuchet MS"/>
                <a:cs typeface="Trebuchet MS"/>
              </a:rPr>
              <a:t>filters</a:t>
            </a:r>
            <a:r>
              <a:rPr u="none" spc="-80" dirty="0">
                <a:latin typeface="Trebuchet MS"/>
                <a:cs typeface="Trebuchet MS"/>
              </a:rPr>
              <a:t> </a:t>
            </a:r>
            <a:r>
              <a:rPr u="none" spc="-10" dirty="0">
                <a:latin typeface="Trebuchet MS"/>
                <a:cs typeface="Trebuchet MS"/>
              </a:rPr>
              <a:t>and</a:t>
            </a:r>
            <a:r>
              <a:rPr u="none" spc="-80" dirty="0">
                <a:latin typeface="Trebuchet MS"/>
                <a:cs typeface="Trebuchet MS"/>
              </a:rPr>
              <a:t> </a:t>
            </a:r>
            <a:r>
              <a:rPr u="none" spc="-65" dirty="0">
                <a:latin typeface="Trebuchet MS"/>
                <a:cs typeface="Trebuchet MS"/>
              </a:rPr>
              <a:t>authentication</a:t>
            </a:r>
            <a:r>
              <a:rPr u="none" spc="-85" dirty="0">
                <a:latin typeface="Trebuchet MS"/>
                <a:cs typeface="Trebuchet MS"/>
              </a:rPr>
              <a:t> </a:t>
            </a:r>
            <a:r>
              <a:rPr u="none" spc="-10" dirty="0">
                <a:latin typeface="Trebuchet MS"/>
                <a:cs typeface="Trebuchet MS"/>
              </a:rPr>
              <a:t>tools</a:t>
            </a:r>
            <a:r>
              <a:rPr u="none" dirty="0">
                <a:latin typeface="Trebuchet MS"/>
                <a:cs typeface="Trebuchet MS"/>
              </a:rPr>
              <a:t>	</a:t>
            </a:r>
            <a:r>
              <a:rPr u="none" spc="-35" dirty="0">
                <a:latin typeface="Trebuchet MS"/>
                <a:cs typeface="Trebuchet MS"/>
              </a:rPr>
              <a:t>Report</a:t>
            </a:r>
            <a:r>
              <a:rPr u="none" spc="-85" dirty="0">
                <a:latin typeface="Trebuchet MS"/>
                <a:cs typeface="Trebuchet MS"/>
              </a:rPr>
              <a:t> </a:t>
            </a:r>
            <a:r>
              <a:rPr u="none" dirty="0">
                <a:latin typeface="Trebuchet MS"/>
                <a:cs typeface="Trebuchet MS"/>
              </a:rPr>
              <a:t>phishing</a:t>
            </a:r>
            <a:r>
              <a:rPr u="none" spc="-40" dirty="0">
                <a:latin typeface="Trebuchet MS"/>
                <a:cs typeface="Trebuchet MS"/>
              </a:rPr>
              <a:t> </a:t>
            </a:r>
            <a:r>
              <a:rPr u="none" spc="-35" dirty="0">
                <a:latin typeface="Trebuchet MS"/>
                <a:cs typeface="Trebuchet MS"/>
              </a:rPr>
              <a:t>attempts</a:t>
            </a:r>
            <a:r>
              <a:rPr u="none" spc="-70" dirty="0">
                <a:latin typeface="Trebuchet MS"/>
                <a:cs typeface="Trebuchet MS"/>
              </a:rPr>
              <a:t> </a:t>
            </a:r>
            <a:r>
              <a:rPr u="none" spc="-45" dirty="0">
                <a:latin typeface="Trebuchet MS"/>
                <a:cs typeface="Trebuchet MS"/>
              </a:rPr>
              <a:t>immediately</a:t>
            </a:r>
            <a:r>
              <a:rPr u="none" spc="-80" dirty="0">
                <a:latin typeface="Trebuchet MS"/>
                <a:cs typeface="Trebuchet MS"/>
              </a:rPr>
              <a:t> </a:t>
            </a:r>
            <a:r>
              <a:rPr u="none" spc="-25" dirty="0">
                <a:latin typeface="Trebuchet MS"/>
                <a:cs typeface="Trebuchet MS"/>
              </a:rPr>
              <a:t>to </a:t>
            </a:r>
            <a:r>
              <a:rPr u="none" spc="-20" dirty="0">
                <a:latin typeface="Trebuchet MS"/>
                <a:cs typeface="Trebuchet MS"/>
              </a:rPr>
              <a:t>(SPF,</a:t>
            </a:r>
            <a:r>
              <a:rPr u="none" spc="-140" dirty="0">
                <a:latin typeface="Trebuchet MS"/>
                <a:cs typeface="Trebuchet MS"/>
              </a:rPr>
              <a:t> </a:t>
            </a:r>
            <a:r>
              <a:rPr u="none" dirty="0">
                <a:latin typeface="Trebuchet MS"/>
                <a:cs typeface="Trebuchet MS"/>
              </a:rPr>
              <a:t>DKIM,</a:t>
            </a:r>
            <a:r>
              <a:rPr u="none" spc="-130" dirty="0">
                <a:latin typeface="Trebuchet MS"/>
                <a:cs typeface="Trebuchet MS"/>
              </a:rPr>
              <a:t> </a:t>
            </a:r>
            <a:r>
              <a:rPr u="none" spc="60" dirty="0">
                <a:latin typeface="Trebuchet MS"/>
                <a:cs typeface="Trebuchet MS"/>
              </a:rPr>
              <a:t>DMARC)</a:t>
            </a:r>
            <a:r>
              <a:rPr u="none" spc="-105" dirty="0">
                <a:latin typeface="Trebuchet MS"/>
                <a:cs typeface="Trebuchet MS"/>
              </a:rPr>
              <a:t> </a:t>
            </a:r>
            <a:r>
              <a:rPr u="none" spc="-50" dirty="0">
                <a:latin typeface="Trebuchet MS"/>
                <a:cs typeface="Trebuchet MS"/>
              </a:rPr>
              <a:t>to</a:t>
            </a:r>
            <a:r>
              <a:rPr u="none" spc="-85" dirty="0">
                <a:latin typeface="Trebuchet MS"/>
                <a:cs typeface="Trebuchet MS"/>
              </a:rPr>
              <a:t> </a:t>
            </a:r>
            <a:r>
              <a:rPr u="none" spc="-60" dirty="0">
                <a:latin typeface="Trebuchet MS"/>
                <a:cs typeface="Trebuchet MS"/>
              </a:rPr>
              <a:t>prevent</a:t>
            </a:r>
            <a:r>
              <a:rPr u="none" spc="-90" dirty="0">
                <a:latin typeface="Trebuchet MS"/>
                <a:cs typeface="Trebuchet MS"/>
              </a:rPr>
              <a:t> </a:t>
            </a:r>
            <a:r>
              <a:rPr u="none" spc="-10" dirty="0">
                <a:latin typeface="Trebuchet MS"/>
                <a:cs typeface="Trebuchet MS"/>
              </a:rPr>
              <a:t>spoofed</a:t>
            </a:r>
            <a:r>
              <a:rPr u="none" dirty="0">
                <a:latin typeface="Trebuchet MS"/>
                <a:cs typeface="Trebuchet MS"/>
              </a:rPr>
              <a:t>	</a:t>
            </a:r>
            <a:r>
              <a:rPr u="none" spc="-70" dirty="0">
                <a:latin typeface="Trebuchet MS"/>
                <a:cs typeface="Trebuchet MS"/>
              </a:rPr>
              <a:t>the</a:t>
            </a:r>
            <a:r>
              <a:rPr u="none" spc="-85" dirty="0">
                <a:latin typeface="Trebuchet MS"/>
                <a:cs typeface="Trebuchet MS"/>
              </a:rPr>
              <a:t> </a:t>
            </a:r>
            <a:r>
              <a:rPr u="none" spc="-50" dirty="0">
                <a:latin typeface="Trebuchet MS"/>
                <a:cs typeface="Trebuchet MS"/>
              </a:rPr>
              <a:t>IT/Security</a:t>
            </a:r>
            <a:r>
              <a:rPr u="none" spc="-75" dirty="0">
                <a:latin typeface="Trebuchet MS"/>
                <a:cs typeface="Trebuchet MS"/>
              </a:rPr>
              <a:t> </a:t>
            </a:r>
            <a:r>
              <a:rPr u="none" spc="-30" dirty="0">
                <a:latin typeface="Trebuchet MS"/>
                <a:cs typeface="Trebuchet MS"/>
              </a:rPr>
              <a:t>team</a:t>
            </a:r>
            <a:r>
              <a:rPr u="none" spc="-95" dirty="0">
                <a:latin typeface="Trebuchet MS"/>
                <a:cs typeface="Trebuchet MS"/>
              </a:rPr>
              <a:t> </a:t>
            </a:r>
            <a:r>
              <a:rPr u="none" spc="-50" dirty="0">
                <a:latin typeface="Trebuchet MS"/>
                <a:cs typeface="Trebuchet MS"/>
              </a:rPr>
              <a:t>for</a:t>
            </a:r>
            <a:r>
              <a:rPr u="none" spc="-70" dirty="0">
                <a:latin typeface="Trebuchet MS"/>
                <a:cs typeface="Trebuchet MS"/>
              </a:rPr>
              <a:t> </a:t>
            </a:r>
            <a:r>
              <a:rPr u="none" spc="-30" dirty="0">
                <a:latin typeface="Trebuchet MS"/>
                <a:cs typeface="Trebuchet MS"/>
              </a:rPr>
              <a:t>quick</a:t>
            </a:r>
            <a:r>
              <a:rPr u="none" spc="-75" dirty="0">
                <a:latin typeface="Trebuchet MS"/>
                <a:cs typeface="Trebuchet MS"/>
              </a:rPr>
              <a:t> </a:t>
            </a:r>
            <a:r>
              <a:rPr u="none" spc="-10" dirty="0">
                <a:latin typeface="Trebuchet MS"/>
                <a:cs typeface="Trebuchet MS"/>
              </a:rPr>
              <a:t>action. emails.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1304" y="2117293"/>
            <a:ext cx="2457450" cy="7048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5" dirty="0"/>
              <a:t>Mini</a:t>
            </a:r>
            <a:r>
              <a:rPr spc="-175" dirty="0"/>
              <a:t> </a:t>
            </a:r>
            <a:r>
              <a:rPr spc="-160" dirty="0"/>
              <a:t>Quiz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93788" y="3324225"/>
            <a:ext cx="4196715" cy="2743835"/>
            <a:chOff x="793788" y="3324225"/>
            <a:chExt cx="4196715" cy="2743835"/>
          </a:xfrm>
        </p:grpSpPr>
        <p:sp>
          <p:nvSpPr>
            <p:cNvPr id="4" name="object 4"/>
            <p:cNvSpPr/>
            <p:nvPr/>
          </p:nvSpPr>
          <p:spPr>
            <a:xfrm>
              <a:off x="793788" y="3664331"/>
              <a:ext cx="4196715" cy="2403475"/>
            </a:xfrm>
            <a:custGeom>
              <a:avLst/>
              <a:gdLst/>
              <a:ahLst/>
              <a:cxnLst/>
              <a:rect l="l" t="t" r="r" b="b"/>
              <a:pathLst>
                <a:path w="4196715" h="2403475">
                  <a:moveTo>
                    <a:pt x="4050118" y="0"/>
                  </a:moveTo>
                  <a:lnTo>
                    <a:pt x="146291" y="0"/>
                  </a:lnTo>
                  <a:lnTo>
                    <a:pt x="100050" y="7461"/>
                  </a:lnTo>
                  <a:lnTo>
                    <a:pt x="59892" y="28236"/>
                  </a:lnTo>
                  <a:lnTo>
                    <a:pt x="28224" y="59911"/>
                  </a:lnTo>
                  <a:lnTo>
                    <a:pt x="7457" y="100071"/>
                  </a:lnTo>
                  <a:lnTo>
                    <a:pt x="0" y="146304"/>
                  </a:lnTo>
                  <a:lnTo>
                    <a:pt x="0" y="2257171"/>
                  </a:lnTo>
                  <a:lnTo>
                    <a:pt x="7457" y="2303403"/>
                  </a:lnTo>
                  <a:lnTo>
                    <a:pt x="28224" y="2343563"/>
                  </a:lnTo>
                  <a:lnTo>
                    <a:pt x="59892" y="2375238"/>
                  </a:lnTo>
                  <a:lnTo>
                    <a:pt x="100050" y="2396013"/>
                  </a:lnTo>
                  <a:lnTo>
                    <a:pt x="146291" y="2403475"/>
                  </a:lnTo>
                  <a:lnTo>
                    <a:pt x="4050118" y="2403475"/>
                  </a:lnTo>
                  <a:lnTo>
                    <a:pt x="4096350" y="2396013"/>
                  </a:lnTo>
                  <a:lnTo>
                    <a:pt x="4136511" y="2375238"/>
                  </a:lnTo>
                  <a:lnTo>
                    <a:pt x="4168186" y="2343563"/>
                  </a:lnTo>
                  <a:lnTo>
                    <a:pt x="4188961" y="2303403"/>
                  </a:lnTo>
                  <a:lnTo>
                    <a:pt x="4196422" y="2257171"/>
                  </a:lnTo>
                  <a:lnTo>
                    <a:pt x="4196422" y="146304"/>
                  </a:lnTo>
                  <a:lnTo>
                    <a:pt x="4188961" y="100071"/>
                  </a:lnTo>
                  <a:lnTo>
                    <a:pt x="4168186" y="59911"/>
                  </a:lnTo>
                  <a:lnTo>
                    <a:pt x="4136511" y="28236"/>
                  </a:lnTo>
                  <a:lnTo>
                    <a:pt x="4096350" y="7461"/>
                  </a:lnTo>
                  <a:lnTo>
                    <a:pt x="4050118" y="0"/>
                  </a:lnTo>
                  <a:close/>
                </a:path>
              </a:pathLst>
            </a:custGeom>
            <a:solidFill>
              <a:srgbClr val="0404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3788" y="3324224"/>
              <a:ext cx="4196715" cy="680720"/>
            </a:xfrm>
            <a:custGeom>
              <a:avLst/>
              <a:gdLst/>
              <a:ahLst/>
              <a:cxnLst/>
              <a:rect l="l" t="t" r="r" b="b"/>
              <a:pathLst>
                <a:path w="4196715" h="680720">
                  <a:moveTo>
                    <a:pt x="4196423" y="370586"/>
                  </a:moveTo>
                  <a:lnTo>
                    <a:pt x="4191622" y="346875"/>
                  </a:lnTo>
                  <a:lnTo>
                    <a:pt x="4178554" y="327494"/>
                  </a:lnTo>
                  <a:lnTo>
                    <a:pt x="4159173" y="314426"/>
                  </a:lnTo>
                  <a:lnTo>
                    <a:pt x="4135463" y="309626"/>
                  </a:lnTo>
                  <a:lnTo>
                    <a:pt x="2436291" y="309626"/>
                  </a:lnTo>
                  <a:lnTo>
                    <a:pt x="2435250" y="294055"/>
                  </a:lnTo>
                  <a:lnTo>
                    <a:pt x="2426195" y="249770"/>
                  </a:lnTo>
                  <a:lnTo>
                    <a:pt x="2411603" y="207784"/>
                  </a:lnTo>
                  <a:lnTo>
                    <a:pt x="2391892" y="168490"/>
                  </a:lnTo>
                  <a:lnTo>
                    <a:pt x="2367445" y="132308"/>
                  </a:lnTo>
                  <a:lnTo>
                    <a:pt x="2338679" y="99644"/>
                  </a:lnTo>
                  <a:lnTo>
                    <a:pt x="2306002" y="70878"/>
                  </a:lnTo>
                  <a:lnTo>
                    <a:pt x="2269807" y="46443"/>
                  </a:lnTo>
                  <a:lnTo>
                    <a:pt x="2230526" y="26733"/>
                  </a:lnTo>
                  <a:lnTo>
                    <a:pt x="2188540" y="12153"/>
                  </a:lnTo>
                  <a:lnTo>
                    <a:pt x="2144280" y="3111"/>
                  </a:lnTo>
                  <a:lnTo>
                    <a:pt x="2098128" y="0"/>
                  </a:lnTo>
                  <a:lnTo>
                    <a:pt x="2051939" y="3111"/>
                  </a:lnTo>
                  <a:lnTo>
                    <a:pt x="2007654" y="12153"/>
                  </a:lnTo>
                  <a:lnTo>
                    <a:pt x="1965667" y="26733"/>
                  </a:lnTo>
                  <a:lnTo>
                    <a:pt x="1926374" y="46443"/>
                  </a:lnTo>
                  <a:lnTo>
                    <a:pt x="1890191" y="70878"/>
                  </a:lnTo>
                  <a:lnTo>
                    <a:pt x="1857514" y="99644"/>
                  </a:lnTo>
                  <a:lnTo>
                    <a:pt x="1828761" y="132308"/>
                  </a:lnTo>
                  <a:lnTo>
                    <a:pt x="1804327" y="168490"/>
                  </a:lnTo>
                  <a:lnTo>
                    <a:pt x="1784616" y="207784"/>
                  </a:lnTo>
                  <a:lnTo>
                    <a:pt x="1770037" y="249770"/>
                  </a:lnTo>
                  <a:lnTo>
                    <a:pt x="1760994" y="294055"/>
                  </a:lnTo>
                  <a:lnTo>
                    <a:pt x="1759940" y="309626"/>
                  </a:lnTo>
                  <a:lnTo>
                    <a:pt x="60960" y="309626"/>
                  </a:lnTo>
                  <a:lnTo>
                    <a:pt x="37223" y="314426"/>
                  </a:lnTo>
                  <a:lnTo>
                    <a:pt x="17843" y="327494"/>
                  </a:lnTo>
                  <a:lnTo>
                    <a:pt x="4787" y="346875"/>
                  </a:lnTo>
                  <a:lnTo>
                    <a:pt x="0" y="370586"/>
                  </a:lnTo>
                  <a:lnTo>
                    <a:pt x="4787" y="394373"/>
                  </a:lnTo>
                  <a:lnTo>
                    <a:pt x="17843" y="413740"/>
                  </a:lnTo>
                  <a:lnTo>
                    <a:pt x="37223" y="426783"/>
                  </a:lnTo>
                  <a:lnTo>
                    <a:pt x="60960" y="431546"/>
                  </a:lnTo>
                  <a:lnTo>
                    <a:pt x="1770341" y="431546"/>
                  </a:lnTo>
                  <a:lnTo>
                    <a:pt x="1784616" y="472643"/>
                  </a:lnTo>
                  <a:lnTo>
                    <a:pt x="1804327" y="511924"/>
                  </a:lnTo>
                  <a:lnTo>
                    <a:pt x="1828761" y="548119"/>
                  </a:lnTo>
                  <a:lnTo>
                    <a:pt x="1857527" y="580796"/>
                  </a:lnTo>
                  <a:lnTo>
                    <a:pt x="1890191" y="609561"/>
                  </a:lnTo>
                  <a:lnTo>
                    <a:pt x="1926374" y="634009"/>
                  </a:lnTo>
                  <a:lnTo>
                    <a:pt x="1965667" y="653719"/>
                  </a:lnTo>
                  <a:lnTo>
                    <a:pt x="2007654" y="668312"/>
                  </a:lnTo>
                  <a:lnTo>
                    <a:pt x="2051939" y="677367"/>
                  </a:lnTo>
                  <a:lnTo>
                    <a:pt x="2098128" y="680466"/>
                  </a:lnTo>
                  <a:lnTo>
                    <a:pt x="2144280" y="677367"/>
                  </a:lnTo>
                  <a:lnTo>
                    <a:pt x="2188540" y="668312"/>
                  </a:lnTo>
                  <a:lnTo>
                    <a:pt x="2230526" y="653719"/>
                  </a:lnTo>
                  <a:lnTo>
                    <a:pt x="2269807" y="634009"/>
                  </a:lnTo>
                  <a:lnTo>
                    <a:pt x="2306002" y="609561"/>
                  </a:lnTo>
                  <a:lnTo>
                    <a:pt x="2338679" y="580796"/>
                  </a:lnTo>
                  <a:lnTo>
                    <a:pt x="2367445" y="548119"/>
                  </a:lnTo>
                  <a:lnTo>
                    <a:pt x="2391892" y="511924"/>
                  </a:lnTo>
                  <a:lnTo>
                    <a:pt x="2411603" y="472643"/>
                  </a:lnTo>
                  <a:lnTo>
                    <a:pt x="2425877" y="431546"/>
                  </a:lnTo>
                  <a:lnTo>
                    <a:pt x="4135463" y="431546"/>
                  </a:lnTo>
                  <a:lnTo>
                    <a:pt x="4159173" y="426783"/>
                  </a:lnTo>
                  <a:lnTo>
                    <a:pt x="4178554" y="413740"/>
                  </a:lnTo>
                  <a:lnTo>
                    <a:pt x="4191622" y="394373"/>
                  </a:lnTo>
                  <a:lnTo>
                    <a:pt x="4196423" y="370586"/>
                  </a:lnTo>
                  <a:close/>
                </a:path>
              </a:pathLst>
            </a:custGeom>
            <a:solidFill>
              <a:srgbClr val="F1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38555" y="3540378"/>
            <a:ext cx="1808480" cy="1515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2100" spc="-770" dirty="0">
                <a:latin typeface="Lucida Sans Unicode"/>
                <a:cs typeface="Lucida Sans Unicode"/>
              </a:rPr>
              <a:t>1</a:t>
            </a:r>
            <a:endParaRPr sz="2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725"/>
              </a:spcBef>
            </a:pPr>
            <a:r>
              <a:rPr sz="2200" dirty="0">
                <a:solidFill>
                  <a:srgbClr val="E4DFDF"/>
                </a:solidFill>
                <a:latin typeface="Lucida Sans Unicode"/>
                <a:cs typeface="Lucida Sans Unicode"/>
              </a:rPr>
              <a:t>Question</a:t>
            </a:r>
            <a:r>
              <a:rPr sz="2200" spc="-7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spc="-800" dirty="0">
                <a:solidFill>
                  <a:srgbClr val="E4DFDF"/>
                </a:solidFill>
                <a:latin typeface="Lucida Sans Unicode"/>
                <a:cs typeface="Lucida Sans Unicode"/>
              </a:rPr>
              <a:t>1</a:t>
            </a:r>
            <a:endParaRPr sz="22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What</a:t>
            </a:r>
            <a:r>
              <a:rPr sz="1750" spc="-7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is</a:t>
            </a:r>
            <a:r>
              <a:rPr sz="1750" spc="-7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phishing?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16905" y="3324225"/>
            <a:ext cx="4196715" cy="2743835"/>
            <a:chOff x="5216905" y="3324225"/>
            <a:chExt cx="4196715" cy="2743835"/>
          </a:xfrm>
        </p:grpSpPr>
        <p:sp>
          <p:nvSpPr>
            <p:cNvPr id="8" name="object 8"/>
            <p:cNvSpPr/>
            <p:nvPr/>
          </p:nvSpPr>
          <p:spPr>
            <a:xfrm>
              <a:off x="5216905" y="3664331"/>
              <a:ext cx="4196715" cy="2403475"/>
            </a:xfrm>
            <a:custGeom>
              <a:avLst/>
              <a:gdLst/>
              <a:ahLst/>
              <a:cxnLst/>
              <a:rect l="l" t="t" r="r" b="b"/>
              <a:pathLst>
                <a:path w="4196715" h="2403475">
                  <a:moveTo>
                    <a:pt x="4050157" y="0"/>
                  </a:moveTo>
                  <a:lnTo>
                    <a:pt x="146304" y="0"/>
                  </a:lnTo>
                  <a:lnTo>
                    <a:pt x="100071" y="7461"/>
                  </a:lnTo>
                  <a:lnTo>
                    <a:pt x="59911" y="28236"/>
                  </a:lnTo>
                  <a:lnTo>
                    <a:pt x="28236" y="59911"/>
                  </a:lnTo>
                  <a:lnTo>
                    <a:pt x="7461" y="100071"/>
                  </a:lnTo>
                  <a:lnTo>
                    <a:pt x="0" y="146304"/>
                  </a:lnTo>
                  <a:lnTo>
                    <a:pt x="0" y="2257171"/>
                  </a:lnTo>
                  <a:lnTo>
                    <a:pt x="7461" y="2303403"/>
                  </a:lnTo>
                  <a:lnTo>
                    <a:pt x="28236" y="2343563"/>
                  </a:lnTo>
                  <a:lnTo>
                    <a:pt x="59911" y="2375238"/>
                  </a:lnTo>
                  <a:lnTo>
                    <a:pt x="100071" y="2396013"/>
                  </a:lnTo>
                  <a:lnTo>
                    <a:pt x="146304" y="2403475"/>
                  </a:lnTo>
                  <a:lnTo>
                    <a:pt x="4050157" y="2403475"/>
                  </a:lnTo>
                  <a:lnTo>
                    <a:pt x="4096389" y="2396013"/>
                  </a:lnTo>
                  <a:lnTo>
                    <a:pt x="4136549" y="2375238"/>
                  </a:lnTo>
                  <a:lnTo>
                    <a:pt x="4168224" y="2343563"/>
                  </a:lnTo>
                  <a:lnTo>
                    <a:pt x="4188999" y="2303403"/>
                  </a:lnTo>
                  <a:lnTo>
                    <a:pt x="4196461" y="2257171"/>
                  </a:lnTo>
                  <a:lnTo>
                    <a:pt x="4196461" y="146304"/>
                  </a:lnTo>
                  <a:lnTo>
                    <a:pt x="4188999" y="100071"/>
                  </a:lnTo>
                  <a:lnTo>
                    <a:pt x="4168224" y="59911"/>
                  </a:lnTo>
                  <a:lnTo>
                    <a:pt x="4136549" y="28236"/>
                  </a:lnTo>
                  <a:lnTo>
                    <a:pt x="4096389" y="7461"/>
                  </a:lnTo>
                  <a:lnTo>
                    <a:pt x="4050157" y="0"/>
                  </a:lnTo>
                  <a:close/>
                </a:path>
              </a:pathLst>
            </a:custGeom>
            <a:solidFill>
              <a:srgbClr val="0404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16906" y="3324224"/>
              <a:ext cx="4196715" cy="680720"/>
            </a:xfrm>
            <a:custGeom>
              <a:avLst/>
              <a:gdLst/>
              <a:ahLst/>
              <a:cxnLst/>
              <a:rect l="l" t="t" r="r" b="b"/>
              <a:pathLst>
                <a:path w="4196715" h="680720">
                  <a:moveTo>
                    <a:pt x="4196461" y="370586"/>
                  </a:moveTo>
                  <a:lnTo>
                    <a:pt x="4191660" y="346875"/>
                  </a:lnTo>
                  <a:lnTo>
                    <a:pt x="4178592" y="327494"/>
                  </a:lnTo>
                  <a:lnTo>
                    <a:pt x="4159212" y="314426"/>
                  </a:lnTo>
                  <a:lnTo>
                    <a:pt x="4135501" y="309626"/>
                  </a:lnTo>
                  <a:lnTo>
                    <a:pt x="2436330" y="309626"/>
                  </a:lnTo>
                  <a:lnTo>
                    <a:pt x="2435288" y="294055"/>
                  </a:lnTo>
                  <a:lnTo>
                    <a:pt x="2426246" y="249770"/>
                  </a:lnTo>
                  <a:lnTo>
                    <a:pt x="2411666" y="207784"/>
                  </a:lnTo>
                  <a:lnTo>
                    <a:pt x="2391956" y="168490"/>
                  </a:lnTo>
                  <a:lnTo>
                    <a:pt x="2367521" y="132308"/>
                  </a:lnTo>
                  <a:lnTo>
                    <a:pt x="2338768" y="99644"/>
                  </a:lnTo>
                  <a:lnTo>
                    <a:pt x="2306091" y="70878"/>
                  </a:lnTo>
                  <a:lnTo>
                    <a:pt x="2269909" y="46443"/>
                  </a:lnTo>
                  <a:lnTo>
                    <a:pt x="2230615" y="26733"/>
                  </a:lnTo>
                  <a:lnTo>
                    <a:pt x="2188629" y="12153"/>
                  </a:lnTo>
                  <a:lnTo>
                    <a:pt x="2144344" y="3111"/>
                  </a:lnTo>
                  <a:lnTo>
                    <a:pt x="2098167" y="0"/>
                  </a:lnTo>
                  <a:lnTo>
                    <a:pt x="2052002" y="3111"/>
                  </a:lnTo>
                  <a:lnTo>
                    <a:pt x="2007743" y="12153"/>
                  </a:lnTo>
                  <a:lnTo>
                    <a:pt x="1965756" y="26733"/>
                  </a:lnTo>
                  <a:lnTo>
                    <a:pt x="1926475" y="46443"/>
                  </a:lnTo>
                  <a:lnTo>
                    <a:pt x="1890280" y="70878"/>
                  </a:lnTo>
                  <a:lnTo>
                    <a:pt x="1857603" y="99644"/>
                  </a:lnTo>
                  <a:lnTo>
                    <a:pt x="1828838" y="132308"/>
                  </a:lnTo>
                  <a:lnTo>
                    <a:pt x="1804390" y="168490"/>
                  </a:lnTo>
                  <a:lnTo>
                    <a:pt x="1784680" y="207784"/>
                  </a:lnTo>
                  <a:lnTo>
                    <a:pt x="1770087" y="249770"/>
                  </a:lnTo>
                  <a:lnTo>
                    <a:pt x="1761032" y="294055"/>
                  </a:lnTo>
                  <a:lnTo>
                    <a:pt x="1759978" y="309626"/>
                  </a:lnTo>
                  <a:lnTo>
                    <a:pt x="60960" y="309626"/>
                  </a:lnTo>
                  <a:lnTo>
                    <a:pt x="37236" y="314426"/>
                  </a:lnTo>
                  <a:lnTo>
                    <a:pt x="17856" y="327494"/>
                  </a:lnTo>
                  <a:lnTo>
                    <a:pt x="4787" y="346875"/>
                  </a:lnTo>
                  <a:lnTo>
                    <a:pt x="0" y="370586"/>
                  </a:lnTo>
                  <a:lnTo>
                    <a:pt x="4787" y="394373"/>
                  </a:lnTo>
                  <a:lnTo>
                    <a:pt x="17856" y="413740"/>
                  </a:lnTo>
                  <a:lnTo>
                    <a:pt x="37236" y="426783"/>
                  </a:lnTo>
                  <a:lnTo>
                    <a:pt x="60960" y="431546"/>
                  </a:lnTo>
                  <a:lnTo>
                    <a:pt x="1770392" y="431546"/>
                  </a:lnTo>
                  <a:lnTo>
                    <a:pt x="1784680" y="472643"/>
                  </a:lnTo>
                  <a:lnTo>
                    <a:pt x="1804390" y="511924"/>
                  </a:lnTo>
                  <a:lnTo>
                    <a:pt x="1828838" y="548119"/>
                  </a:lnTo>
                  <a:lnTo>
                    <a:pt x="1857603" y="580796"/>
                  </a:lnTo>
                  <a:lnTo>
                    <a:pt x="1890280" y="609561"/>
                  </a:lnTo>
                  <a:lnTo>
                    <a:pt x="1926475" y="634009"/>
                  </a:lnTo>
                  <a:lnTo>
                    <a:pt x="1965756" y="653719"/>
                  </a:lnTo>
                  <a:lnTo>
                    <a:pt x="2007743" y="668312"/>
                  </a:lnTo>
                  <a:lnTo>
                    <a:pt x="2052002" y="677367"/>
                  </a:lnTo>
                  <a:lnTo>
                    <a:pt x="2098167" y="680466"/>
                  </a:lnTo>
                  <a:lnTo>
                    <a:pt x="2144344" y="677367"/>
                  </a:lnTo>
                  <a:lnTo>
                    <a:pt x="2188629" y="668312"/>
                  </a:lnTo>
                  <a:lnTo>
                    <a:pt x="2230615" y="653719"/>
                  </a:lnTo>
                  <a:lnTo>
                    <a:pt x="2269909" y="634009"/>
                  </a:lnTo>
                  <a:lnTo>
                    <a:pt x="2306091" y="609561"/>
                  </a:lnTo>
                  <a:lnTo>
                    <a:pt x="2338768" y="580796"/>
                  </a:lnTo>
                  <a:lnTo>
                    <a:pt x="2367521" y="548119"/>
                  </a:lnTo>
                  <a:lnTo>
                    <a:pt x="2391956" y="511924"/>
                  </a:lnTo>
                  <a:lnTo>
                    <a:pt x="2411666" y="472643"/>
                  </a:lnTo>
                  <a:lnTo>
                    <a:pt x="2425928" y="431546"/>
                  </a:lnTo>
                  <a:lnTo>
                    <a:pt x="4135501" y="431546"/>
                  </a:lnTo>
                  <a:lnTo>
                    <a:pt x="4159212" y="426783"/>
                  </a:lnTo>
                  <a:lnTo>
                    <a:pt x="4178592" y="413740"/>
                  </a:lnTo>
                  <a:lnTo>
                    <a:pt x="4191660" y="394373"/>
                  </a:lnTo>
                  <a:lnTo>
                    <a:pt x="4196461" y="370586"/>
                  </a:lnTo>
                  <a:close/>
                </a:path>
              </a:pathLst>
            </a:custGeom>
            <a:solidFill>
              <a:srgbClr val="F1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7166864" y="3540378"/>
            <a:ext cx="17843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70" dirty="0">
                <a:latin typeface="Lucida Sans Unicode"/>
                <a:cs typeface="Lucida Sans Unicode"/>
              </a:rPr>
              <a:t>2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62142" y="4207255"/>
            <a:ext cx="3141345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E4DFDF"/>
                </a:solidFill>
                <a:latin typeface="Lucida Sans Unicode"/>
                <a:cs typeface="Lucida Sans Unicode"/>
              </a:rPr>
              <a:t>Question</a:t>
            </a:r>
            <a:r>
              <a:rPr sz="2200" spc="-7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solidFill>
                  <a:srgbClr val="E4DFDF"/>
                </a:solidFill>
                <a:latin typeface="Lucida Sans Unicode"/>
                <a:cs typeface="Lucida Sans Unicode"/>
              </a:rPr>
              <a:t>2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What</a:t>
            </a:r>
            <a:r>
              <a:rPr sz="17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50" dirty="0">
                <a:solidFill>
                  <a:srgbClr val="E4DFDF"/>
                </a:solidFill>
                <a:latin typeface="Trebuchet MS"/>
                <a:cs typeface="Trebuchet MS"/>
              </a:rPr>
              <a:t>are</a:t>
            </a:r>
            <a:r>
              <a:rPr sz="1750" spc="-11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70" dirty="0">
                <a:solidFill>
                  <a:srgbClr val="E4DFDF"/>
                </a:solidFill>
                <a:latin typeface="Trebuchet MS"/>
                <a:cs typeface="Trebuchet MS"/>
              </a:rPr>
              <a:t>the</a:t>
            </a:r>
            <a:r>
              <a:rPr sz="17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60" dirty="0">
                <a:solidFill>
                  <a:srgbClr val="E4DFDF"/>
                </a:solidFill>
                <a:latin typeface="Trebuchet MS"/>
                <a:cs typeface="Trebuchet MS"/>
              </a:rPr>
              <a:t>signs</a:t>
            </a:r>
            <a:r>
              <a:rPr sz="1750" spc="-10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20" dirty="0">
                <a:solidFill>
                  <a:srgbClr val="E4DFDF"/>
                </a:solidFill>
                <a:latin typeface="Trebuchet MS"/>
                <a:cs typeface="Trebuchet MS"/>
              </a:rPr>
              <a:t>of</a:t>
            </a:r>
            <a:r>
              <a:rPr sz="1750" spc="-10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a</a:t>
            </a:r>
            <a:r>
              <a:rPr sz="1750" spc="-10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phishing email?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640189" y="3324225"/>
            <a:ext cx="4196715" cy="2743835"/>
            <a:chOff x="9640189" y="3324225"/>
            <a:chExt cx="4196715" cy="2743835"/>
          </a:xfrm>
        </p:grpSpPr>
        <p:sp>
          <p:nvSpPr>
            <p:cNvPr id="13" name="object 13"/>
            <p:cNvSpPr/>
            <p:nvPr/>
          </p:nvSpPr>
          <p:spPr>
            <a:xfrm>
              <a:off x="9640189" y="3664331"/>
              <a:ext cx="4196715" cy="2403475"/>
            </a:xfrm>
            <a:custGeom>
              <a:avLst/>
              <a:gdLst/>
              <a:ahLst/>
              <a:cxnLst/>
              <a:rect l="l" t="t" r="r" b="b"/>
              <a:pathLst>
                <a:path w="4196715" h="2403475">
                  <a:moveTo>
                    <a:pt x="4050029" y="0"/>
                  </a:moveTo>
                  <a:lnTo>
                    <a:pt x="146176" y="0"/>
                  </a:lnTo>
                  <a:lnTo>
                    <a:pt x="99958" y="7461"/>
                  </a:lnTo>
                  <a:lnTo>
                    <a:pt x="59829" y="28236"/>
                  </a:lnTo>
                  <a:lnTo>
                    <a:pt x="28191" y="59911"/>
                  </a:lnTo>
                  <a:lnTo>
                    <a:pt x="7448" y="100071"/>
                  </a:lnTo>
                  <a:lnTo>
                    <a:pt x="0" y="146304"/>
                  </a:lnTo>
                  <a:lnTo>
                    <a:pt x="0" y="2257171"/>
                  </a:lnTo>
                  <a:lnTo>
                    <a:pt x="7448" y="2303403"/>
                  </a:lnTo>
                  <a:lnTo>
                    <a:pt x="28191" y="2343563"/>
                  </a:lnTo>
                  <a:lnTo>
                    <a:pt x="59829" y="2375238"/>
                  </a:lnTo>
                  <a:lnTo>
                    <a:pt x="99958" y="2396013"/>
                  </a:lnTo>
                  <a:lnTo>
                    <a:pt x="146176" y="2403475"/>
                  </a:lnTo>
                  <a:lnTo>
                    <a:pt x="4050029" y="2403475"/>
                  </a:lnTo>
                  <a:lnTo>
                    <a:pt x="4096262" y="2396013"/>
                  </a:lnTo>
                  <a:lnTo>
                    <a:pt x="4136422" y="2375238"/>
                  </a:lnTo>
                  <a:lnTo>
                    <a:pt x="4168097" y="2343563"/>
                  </a:lnTo>
                  <a:lnTo>
                    <a:pt x="4188872" y="2303403"/>
                  </a:lnTo>
                  <a:lnTo>
                    <a:pt x="4196333" y="2257171"/>
                  </a:lnTo>
                  <a:lnTo>
                    <a:pt x="4196333" y="146304"/>
                  </a:lnTo>
                  <a:lnTo>
                    <a:pt x="4188872" y="100071"/>
                  </a:lnTo>
                  <a:lnTo>
                    <a:pt x="4168097" y="59911"/>
                  </a:lnTo>
                  <a:lnTo>
                    <a:pt x="4136422" y="28236"/>
                  </a:lnTo>
                  <a:lnTo>
                    <a:pt x="4096262" y="7461"/>
                  </a:lnTo>
                  <a:lnTo>
                    <a:pt x="4050029" y="0"/>
                  </a:lnTo>
                  <a:close/>
                </a:path>
              </a:pathLst>
            </a:custGeom>
            <a:solidFill>
              <a:srgbClr val="0404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640189" y="3324224"/>
              <a:ext cx="4196715" cy="680720"/>
            </a:xfrm>
            <a:custGeom>
              <a:avLst/>
              <a:gdLst/>
              <a:ahLst/>
              <a:cxnLst/>
              <a:rect l="l" t="t" r="r" b="b"/>
              <a:pathLst>
                <a:path w="4196715" h="680720">
                  <a:moveTo>
                    <a:pt x="4196334" y="370586"/>
                  </a:moveTo>
                  <a:lnTo>
                    <a:pt x="4191533" y="346875"/>
                  </a:lnTo>
                  <a:lnTo>
                    <a:pt x="4178465" y="327494"/>
                  </a:lnTo>
                  <a:lnTo>
                    <a:pt x="4159085" y="314426"/>
                  </a:lnTo>
                  <a:lnTo>
                    <a:pt x="4135374" y="309626"/>
                  </a:lnTo>
                  <a:lnTo>
                    <a:pt x="2436203" y="309626"/>
                  </a:lnTo>
                  <a:lnTo>
                    <a:pt x="2435161" y="294055"/>
                  </a:lnTo>
                  <a:lnTo>
                    <a:pt x="2426119" y="249770"/>
                  </a:lnTo>
                  <a:lnTo>
                    <a:pt x="2411539" y="207784"/>
                  </a:lnTo>
                  <a:lnTo>
                    <a:pt x="2391829" y="168490"/>
                  </a:lnTo>
                  <a:lnTo>
                    <a:pt x="2367394" y="132308"/>
                  </a:lnTo>
                  <a:lnTo>
                    <a:pt x="2338628" y="99644"/>
                  </a:lnTo>
                  <a:lnTo>
                    <a:pt x="2305964" y="70878"/>
                  </a:lnTo>
                  <a:lnTo>
                    <a:pt x="2269782" y="46443"/>
                  </a:lnTo>
                  <a:lnTo>
                    <a:pt x="2230488" y="26733"/>
                  </a:lnTo>
                  <a:lnTo>
                    <a:pt x="2188502" y="12153"/>
                  </a:lnTo>
                  <a:lnTo>
                    <a:pt x="2144217" y="3111"/>
                  </a:lnTo>
                  <a:lnTo>
                    <a:pt x="2098040" y="0"/>
                  </a:lnTo>
                  <a:lnTo>
                    <a:pt x="2051875" y="3111"/>
                  </a:lnTo>
                  <a:lnTo>
                    <a:pt x="2007616" y="12153"/>
                  </a:lnTo>
                  <a:lnTo>
                    <a:pt x="1965629" y="26733"/>
                  </a:lnTo>
                  <a:lnTo>
                    <a:pt x="1926348" y="46443"/>
                  </a:lnTo>
                  <a:lnTo>
                    <a:pt x="1890153" y="70878"/>
                  </a:lnTo>
                  <a:lnTo>
                    <a:pt x="1857476" y="99644"/>
                  </a:lnTo>
                  <a:lnTo>
                    <a:pt x="1828711" y="132308"/>
                  </a:lnTo>
                  <a:lnTo>
                    <a:pt x="1804263" y="168490"/>
                  </a:lnTo>
                  <a:lnTo>
                    <a:pt x="1784553" y="207784"/>
                  </a:lnTo>
                  <a:lnTo>
                    <a:pt x="1769960" y="249770"/>
                  </a:lnTo>
                  <a:lnTo>
                    <a:pt x="1760905" y="294055"/>
                  </a:lnTo>
                  <a:lnTo>
                    <a:pt x="1759851" y="309626"/>
                  </a:lnTo>
                  <a:lnTo>
                    <a:pt x="60960" y="309626"/>
                  </a:lnTo>
                  <a:lnTo>
                    <a:pt x="37172" y="314426"/>
                  </a:lnTo>
                  <a:lnTo>
                    <a:pt x="17805" y="327494"/>
                  </a:lnTo>
                  <a:lnTo>
                    <a:pt x="4762" y="346875"/>
                  </a:lnTo>
                  <a:lnTo>
                    <a:pt x="0" y="370586"/>
                  </a:lnTo>
                  <a:lnTo>
                    <a:pt x="4762" y="394373"/>
                  </a:lnTo>
                  <a:lnTo>
                    <a:pt x="17805" y="413740"/>
                  </a:lnTo>
                  <a:lnTo>
                    <a:pt x="37172" y="426783"/>
                  </a:lnTo>
                  <a:lnTo>
                    <a:pt x="60960" y="431546"/>
                  </a:lnTo>
                  <a:lnTo>
                    <a:pt x="1770265" y="431546"/>
                  </a:lnTo>
                  <a:lnTo>
                    <a:pt x="1784553" y="472643"/>
                  </a:lnTo>
                  <a:lnTo>
                    <a:pt x="1804263" y="511924"/>
                  </a:lnTo>
                  <a:lnTo>
                    <a:pt x="1828711" y="548119"/>
                  </a:lnTo>
                  <a:lnTo>
                    <a:pt x="1857476" y="580796"/>
                  </a:lnTo>
                  <a:lnTo>
                    <a:pt x="1890153" y="609561"/>
                  </a:lnTo>
                  <a:lnTo>
                    <a:pt x="1926348" y="634009"/>
                  </a:lnTo>
                  <a:lnTo>
                    <a:pt x="1965629" y="653719"/>
                  </a:lnTo>
                  <a:lnTo>
                    <a:pt x="2007616" y="668312"/>
                  </a:lnTo>
                  <a:lnTo>
                    <a:pt x="2051875" y="677367"/>
                  </a:lnTo>
                  <a:lnTo>
                    <a:pt x="2098040" y="680466"/>
                  </a:lnTo>
                  <a:lnTo>
                    <a:pt x="2144217" y="677367"/>
                  </a:lnTo>
                  <a:lnTo>
                    <a:pt x="2188502" y="668312"/>
                  </a:lnTo>
                  <a:lnTo>
                    <a:pt x="2230488" y="653719"/>
                  </a:lnTo>
                  <a:lnTo>
                    <a:pt x="2269782" y="634009"/>
                  </a:lnTo>
                  <a:lnTo>
                    <a:pt x="2305964" y="609561"/>
                  </a:lnTo>
                  <a:lnTo>
                    <a:pt x="2338628" y="580796"/>
                  </a:lnTo>
                  <a:lnTo>
                    <a:pt x="2367394" y="548119"/>
                  </a:lnTo>
                  <a:lnTo>
                    <a:pt x="2391829" y="511924"/>
                  </a:lnTo>
                  <a:lnTo>
                    <a:pt x="2411539" y="472643"/>
                  </a:lnTo>
                  <a:lnTo>
                    <a:pt x="2425801" y="431546"/>
                  </a:lnTo>
                  <a:lnTo>
                    <a:pt x="4135374" y="431546"/>
                  </a:lnTo>
                  <a:lnTo>
                    <a:pt x="4159085" y="426783"/>
                  </a:lnTo>
                  <a:lnTo>
                    <a:pt x="4178465" y="413740"/>
                  </a:lnTo>
                  <a:lnTo>
                    <a:pt x="4191533" y="394373"/>
                  </a:lnTo>
                  <a:lnTo>
                    <a:pt x="4196334" y="370586"/>
                  </a:lnTo>
                  <a:close/>
                </a:path>
              </a:pathLst>
            </a:custGeom>
            <a:solidFill>
              <a:srgbClr val="F1F1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1590401" y="3540378"/>
            <a:ext cx="1816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50" dirty="0">
                <a:latin typeface="Lucida Sans Unicode"/>
                <a:cs typeface="Lucida Sans Unicode"/>
              </a:rPr>
              <a:t>3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85680" y="4207255"/>
            <a:ext cx="3666490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E4DFDF"/>
                </a:solidFill>
                <a:latin typeface="Lucida Sans Unicode"/>
                <a:cs typeface="Lucida Sans Unicode"/>
              </a:rPr>
              <a:t>Question</a:t>
            </a:r>
            <a:r>
              <a:rPr sz="2200" spc="-75" dirty="0">
                <a:solidFill>
                  <a:srgbClr val="E4DFDF"/>
                </a:solidFill>
                <a:latin typeface="Lucida Sans Unicode"/>
                <a:cs typeface="Lucida Sans Unicode"/>
              </a:rPr>
              <a:t> </a:t>
            </a:r>
            <a:r>
              <a:rPr sz="2200" spc="-50" dirty="0">
                <a:solidFill>
                  <a:srgbClr val="E4DFDF"/>
                </a:solidFill>
                <a:latin typeface="Lucida Sans Unicode"/>
                <a:cs typeface="Lucida Sans Unicode"/>
              </a:rPr>
              <a:t>3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38300"/>
              </a:lnSpc>
              <a:spcBef>
                <a:spcPts val="940"/>
              </a:spcBef>
            </a:pP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Should</a:t>
            </a:r>
            <a:r>
              <a:rPr sz="17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you</a:t>
            </a:r>
            <a:r>
              <a:rPr sz="1750" spc="-7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E4DFDF"/>
                </a:solidFill>
                <a:latin typeface="Trebuchet MS"/>
                <a:cs typeface="Trebuchet MS"/>
              </a:rPr>
              <a:t>share</a:t>
            </a:r>
            <a:r>
              <a:rPr sz="1750" spc="-9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75" dirty="0">
                <a:solidFill>
                  <a:srgbClr val="E4DFDF"/>
                </a:solidFill>
                <a:latin typeface="Trebuchet MS"/>
                <a:cs typeface="Trebuchet MS"/>
              </a:rPr>
              <a:t>OTPs</a:t>
            </a:r>
            <a:r>
              <a:rPr sz="1750" spc="-6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30" dirty="0">
                <a:solidFill>
                  <a:srgbClr val="E4DFDF"/>
                </a:solidFill>
                <a:latin typeface="Trebuchet MS"/>
                <a:cs typeface="Trebuchet MS"/>
              </a:rPr>
              <a:t>or</a:t>
            </a:r>
            <a:r>
              <a:rPr sz="1750" spc="-9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40" dirty="0">
                <a:solidFill>
                  <a:srgbClr val="E4DFDF"/>
                </a:solidFill>
                <a:latin typeface="Trebuchet MS"/>
                <a:cs typeface="Trebuchet MS"/>
              </a:rPr>
              <a:t>passwords </a:t>
            </a:r>
            <a:r>
              <a:rPr sz="1750" spc="-25" dirty="0">
                <a:solidFill>
                  <a:srgbClr val="E4DFDF"/>
                </a:solidFill>
                <a:latin typeface="Trebuchet MS"/>
                <a:cs typeface="Trebuchet MS"/>
              </a:rPr>
              <a:t>through</a:t>
            </a:r>
            <a:r>
              <a:rPr sz="1750" spc="-8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E4DFDF"/>
                </a:solidFill>
                <a:latin typeface="Trebuchet MS"/>
                <a:cs typeface="Trebuchet MS"/>
              </a:rPr>
              <a:t>calls</a:t>
            </a:r>
            <a:r>
              <a:rPr sz="1750" spc="-9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-30" dirty="0">
                <a:solidFill>
                  <a:srgbClr val="E4DFDF"/>
                </a:solidFill>
                <a:latin typeface="Trebuchet MS"/>
                <a:cs typeface="Trebuchet MS"/>
              </a:rPr>
              <a:t>or</a:t>
            </a:r>
            <a:r>
              <a:rPr sz="1750" spc="-8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1750" spc="75" dirty="0">
                <a:solidFill>
                  <a:srgbClr val="E4DFDF"/>
                </a:solidFill>
                <a:latin typeface="Trebuchet MS"/>
                <a:cs typeface="Trebuchet MS"/>
              </a:rPr>
              <a:t>messages?</a:t>
            </a:r>
            <a:endParaRPr sz="1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682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9978" y="3849623"/>
            <a:ext cx="4204335" cy="1692910"/>
            <a:chOff x="789978" y="3849623"/>
            <a:chExt cx="4204335" cy="1692910"/>
          </a:xfrm>
        </p:grpSpPr>
        <p:sp>
          <p:nvSpPr>
            <p:cNvPr id="4" name="object 4"/>
            <p:cNvSpPr/>
            <p:nvPr/>
          </p:nvSpPr>
          <p:spPr>
            <a:xfrm>
              <a:off x="793788" y="3853433"/>
              <a:ext cx="4196715" cy="1685289"/>
            </a:xfrm>
            <a:custGeom>
              <a:avLst/>
              <a:gdLst/>
              <a:ahLst/>
              <a:cxnLst/>
              <a:rect l="l" t="t" r="r" b="b"/>
              <a:pathLst>
                <a:path w="4196715" h="1685289">
                  <a:moveTo>
                    <a:pt x="3651973" y="0"/>
                  </a:moveTo>
                  <a:lnTo>
                    <a:pt x="544410" y="0"/>
                  </a:lnTo>
                  <a:lnTo>
                    <a:pt x="497434" y="1998"/>
                  </a:lnTo>
                  <a:lnTo>
                    <a:pt x="451568" y="7883"/>
                  </a:lnTo>
                  <a:lnTo>
                    <a:pt x="406976" y="17492"/>
                  </a:lnTo>
                  <a:lnTo>
                    <a:pt x="363820" y="30663"/>
                  </a:lnTo>
                  <a:lnTo>
                    <a:pt x="322265" y="47230"/>
                  </a:lnTo>
                  <a:lnTo>
                    <a:pt x="282473" y="67032"/>
                  </a:lnTo>
                  <a:lnTo>
                    <a:pt x="244608" y="89904"/>
                  </a:lnTo>
                  <a:lnTo>
                    <a:pt x="208833" y="115684"/>
                  </a:lnTo>
                  <a:lnTo>
                    <a:pt x="175312" y="144208"/>
                  </a:lnTo>
                  <a:lnTo>
                    <a:pt x="144208" y="175313"/>
                  </a:lnTo>
                  <a:lnTo>
                    <a:pt x="115685" y="208835"/>
                  </a:lnTo>
                  <a:lnTo>
                    <a:pt x="89905" y="244612"/>
                  </a:lnTo>
                  <a:lnTo>
                    <a:pt x="67033" y="282479"/>
                  </a:lnTo>
                  <a:lnTo>
                    <a:pt x="47231" y="322275"/>
                  </a:lnTo>
                  <a:lnTo>
                    <a:pt x="30664" y="363834"/>
                  </a:lnTo>
                  <a:lnTo>
                    <a:pt x="17493" y="406994"/>
                  </a:lnTo>
                  <a:lnTo>
                    <a:pt x="7883" y="451592"/>
                  </a:lnTo>
                  <a:lnTo>
                    <a:pt x="1998" y="497465"/>
                  </a:lnTo>
                  <a:lnTo>
                    <a:pt x="0" y="544449"/>
                  </a:lnTo>
                  <a:lnTo>
                    <a:pt x="0" y="1140714"/>
                  </a:lnTo>
                  <a:lnTo>
                    <a:pt x="1998" y="1187697"/>
                  </a:lnTo>
                  <a:lnTo>
                    <a:pt x="7883" y="1233570"/>
                  </a:lnTo>
                  <a:lnTo>
                    <a:pt x="17493" y="1278168"/>
                  </a:lnTo>
                  <a:lnTo>
                    <a:pt x="30664" y="1321328"/>
                  </a:lnTo>
                  <a:lnTo>
                    <a:pt x="47231" y="1362887"/>
                  </a:lnTo>
                  <a:lnTo>
                    <a:pt x="67033" y="1402683"/>
                  </a:lnTo>
                  <a:lnTo>
                    <a:pt x="89905" y="1440550"/>
                  </a:lnTo>
                  <a:lnTo>
                    <a:pt x="115685" y="1476327"/>
                  </a:lnTo>
                  <a:lnTo>
                    <a:pt x="144208" y="1509849"/>
                  </a:lnTo>
                  <a:lnTo>
                    <a:pt x="175312" y="1540954"/>
                  </a:lnTo>
                  <a:lnTo>
                    <a:pt x="208833" y="1569478"/>
                  </a:lnTo>
                  <a:lnTo>
                    <a:pt x="244608" y="1595258"/>
                  </a:lnTo>
                  <a:lnTo>
                    <a:pt x="282473" y="1618130"/>
                  </a:lnTo>
                  <a:lnTo>
                    <a:pt x="322265" y="1637932"/>
                  </a:lnTo>
                  <a:lnTo>
                    <a:pt x="363820" y="1654499"/>
                  </a:lnTo>
                  <a:lnTo>
                    <a:pt x="406976" y="1667670"/>
                  </a:lnTo>
                  <a:lnTo>
                    <a:pt x="451568" y="1677279"/>
                  </a:lnTo>
                  <a:lnTo>
                    <a:pt x="497434" y="1683164"/>
                  </a:lnTo>
                  <a:lnTo>
                    <a:pt x="544410" y="1685163"/>
                  </a:lnTo>
                  <a:lnTo>
                    <a:pt x="3651973" y="1685163"/>
                  </a:lnTo>
                  <a:lnTo>
                    <a:pt x="3698939" y="1683164"/>
                  </a:lnTo>
                  <a:lnTo>
                    <a:pt x="3744797" y="1677279"/>
                  </a:lnTo>
                  <a:lnTo>
                    <a:pt x="3789385" y="1667670"/>
                  </a:lnTo>
                  <a:lnTo>
                    <a:pt x="3832538" y="1654499"/>
                  </a:lnTo>
                  <a:lnTo>
                    <a:pt x="3874093" y="1637932"/>
                  </a:lnTo>
                  <a:lnTo>
                    <a:pt x="3913886" y="1618130"/>
                  </a:lnTo>
                  <a:lnTo>
                    <a:pt x="3951754" y="1595258"/>
                  </a:lnTo>
                  <a:lnTo>
                    <a:pt x="3987533" y="1569478"/>
                  </a:lnTo>
                  <a:lnTo>
                    <a:pt x="4021059" y="1540954"/>
                  </a:lnTo>
                  <a:lnTo>
                    <a:pt x="4052169" y="1509849"/>
                  </a:lnTo>
                  <a:lnTo>
                    <a:pt x="4080699" y="1476327"/>
                  </a:lnTo>
                  <a:lnTo>
                    <a:pt x="4106485" y="1440550"/>
                  </a:lnTo>
                  <a:lnTo>
                    <a:pt x="4129364" y="1402683"/>
                  </a:lnTo>
                  <a:lnTo>
                    <a:pt x="4149172" y="1362887"/>
                  </a:lnTo>
                  <a:lnTo>
                    <a:pt x="4165746" y="1321328"/>
                  </a:lnTo>
                  <a:lnTo>
                    <a:pt x="4178921" y="1278168"/>
                  </a:lnTo>
                  <a:lnTo>
                    <a:pt x="4188535" y="1233570"/>
                  </a:lnTo>
                  <a:lnTo>
                    <a:pt x="4194423" y="1187697"/>
                  </a:lnTo>
                  <a:lnTo>
                    <a:pt x="4196422" y="1140714"/>
                  </a:lnTo>
                  <a:lnTo>
                    <a:pt x="4196422" y="544449"/>
                  </a:lnTo>
                  <a:lnTo>
                    <a:pt x="4194423" y="497465"/>
                  </a:lnTo>
                  <a:lnTo>
                    <a:pt x="4188535" y="451592"/>
                  </a:lnTo>
                  <a:lnTo>
                    <a:pt x="4178921" y="406994"/>
                  </a:lnTo>
                  <a:lnTo>
                    <a:pt x="4165746" y="363834"/>
                  </a:lnTo>
                  <a:lnTo>
                    <a:pt x="4149172" y="322275"/>
                  </a:lnTo>
                  <a:lnTo>
                    <a:pt x="4129364" y="282479"/>
                  </a:lnTo>
                  <a:lnTo>
                    <a:pt x="4106485" y="244612"/>
                  </a:lnTo>
                  <a:lnTo>
                    <a:pt x="4080699" y="208835"/>
                  </a:lnTo>
                  <a:lnTo>
                    <a:pt x="4052169" y="175313"/>
                  </a:lnTo>
                  <a:lnTo>
                    <a:pt x="4021059" y="144208"/>
                  </a:lnTo>
                  <a:lnTo>
                    <a:pt x="3987533" y="115684"/>
                  </a:lnTo>
                  <a:lnTo>
                    <a:pt x="3951754" y="89904"/>
                  </a:lnTo>
                  <a:lnTo>
                    <a:pt x="3913886" y="67032"/>
                  </a:lnTo>
                  <a:lnTo>
                    <a:pt x="3874093" y="47230"/>
                  </a:lnTo>
                  <a:lnTo>
                    <a:pt x="3832538" y="30663"/>
                  </a:lnTo>
                  <a:lnTo>
                    <a:pt x="3789385" y="17492"/>
                  </a:lnTo>
                  <a:lnTo>
                    <a:pt x="3744797" y="7883"/>
                  </a:lnTo>
                  <a:lnTo>
                    <a:pt x="3698939" y="1998"/>
                  </a:lnTo>
                  <a:lnTo>
                    <a:pt x="3651973" y="0"/>
                  </a:lnTo>
                  <a:close/>
                </a:path>
              </a:pathLst>
            </a:custGeom>
            <a:solidFill>
              <a:srgbClr val="5F9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93788" y="3853433"/>
              <a:ext cx="4196715" cy="1685289"/>
            </a:xfrm>
            <a:custGeom>
              <a:avLst/>
              <a:gdLst/>
              <a:ahLst/>
              <a:cxnLst/>
              <a:rect l="l" t="t" r="r" b="b"/>
              <a:pathLst>
                <a:path w="4196715" h="1685289">
                  <a:moveTo>
                    <a:pt x="0" y="544449"/>
                  </a:moveTo>
                  <a:lnTo>
                    <a:pt x="1998" y="497465"/>
                  </a:lnTo>
                  <a:lnTo>
                    <a:pt x="7883" y="451592"/>
                  </a:lnTo>
                  <a:lnTo>
                    <a:pt x="17493" y="406994"/>
                  </a:lnTo>
                  <a:lnTo>
                    <a:pt x="30664" y="363834"/>
                  </a:lnTo>
                  <a:lnTo>
                    <a:pt x="47231" y="322275"/>
                  </a:lnTo>
                  <a:lnTo>
                    <a:pt x="67033" y="282479"/>
                  </a:lnTo>
                  <a:lnTo>
                    <a:pt x="89905" y="244612"/>
                  </a:lnTo>
                  <a:lnTo>
                    <a:pt x="115685" y="208835"/>
                  </a:lnTo>
                  <a:lnTo>
                    <a:pt x="144208" y="175313"/>
                  </a:lnTo>
                  <a:lnTo>
                    <a:pt x="175312" y="144208"/>
                  </a:lnTo>
                  <a:lnTo>
                    <a:pt x="208833" y="115684"/>
                  </a:lnTo>
                  <a:lnTo>
                    <a:pt x="244608" y="89904"/>
                  </a:lnTo>
                  <a:lnTo>
                    <a:pt x="282473" y="67032"/>
                  </a:lnTo>
                  <a:lnTo>
                    <a:pt x="322265" y="47230"/>
                  </a:lnTo>
                  <a:lnTo>
                    <a:pt x="363820" y="30663"/>
                  </a:lnTo>
                  <a:lnTo>
                    <a:pt x="406976" y="17492"/>
                  </a:lnTo>
                  <a:lnTo>
                    <a:pt x="451568" y="7883"/>
                  </a:lnTo>
                  <a:lnTo>
                    <a:pt x="497434" y="1998"/>
                  </a:lnTo>
                  <a:lnTo>
                    <a:pt x="544410" y="0"/>
                  </a:lnTo>
                  <a:lnTo>
                    <a:pt x="3651973" y="0"/>
                  </a:lnTo>
                  <a:lnTo>
                    <a:pt x="3698939" y="1998"/>
                  </a:lnTo>
                  <a:lnTo>
                    <a:pt x="3744797" y="7883"/>
                  </a:lnTo>
                  <a:lnTo>
                    <a:pt x="3789385" y="17492"/>
                  </a:lnTo>
                  <a:lnTo>
                    <a:pt x="3832538" y="30663"/>
                  </a:lnTo>
                  <a:lnTo>
                    <a:pt x="3874093" y="47230"/>
                  </a:lnTo>
                  <a:lnTo>
                    <a:pt x="3913886" y="67032"/>
                  </a:lnTo>
                  <a:lnTo>
                    <a:pt x="3951754" y="89904"/>
                  </a:lnTo>
                  <a:lnTo>
                    <a:pt x="3987533" y="115684"/>
                  </a:lnTo>
                  <a:lnTo>
                    <a:pt x="4021059" y="144208"/>
                  </a:lnTo>
                  <a:lnTo>
                    <a:pt x="4052169" y="175313"/>
                  </a:lnTo>
                  <a:lnTo>
                    <a:pt x="4080699" y="208835"/>
                  </a:lnTo>
                  <a:lnTo>
                    <a:pt x="4106485" y="244612"/>
                  </a:lnTo>
                  <a:lnTo>
                    <a:pt x="4129364" y="282479"/>
                  </a:lnTo>
                  <a:lnTo>
                    <a:pt x="4149172" y="322275"/>
                  </a:lnTo>
                  <a:lnTo>
                    <a:pt x="4165746" y="363834"/>
                  </a:lnTo>
                  <a:lnTo>
                    <a:pt x="4178921" y="406994"/>
                  </a:lnTo>
                  <a:lnTo>
                    <a:pt x="4188535" y="451592"/>
                  </a:lnTo>
                  <a:lnTo>
                    <a:pt x="4194423" y="497465"/>
                  </a:lnTo>
                  <a:lnTo>
                    <a:pt x="4196422" y="544449"/>
                  </a:lnTo>
                  <a:lnTo>
                    <a:pt x="4196422" y="1140714"/>
                  </a:lnTo>
                  <a:lnTo>
                    <a:pt x="4194423" y="1187697"/>
                  </a:lnTo>
                  <a:lnTo>
                    <a:pt x="4188535" y="1233570"/>
                  </a:lnTo>
                  <a:lnTo>
                    <a:pt x="4178921" y="1278168"/>
                  </a:lnTo>
                  <a:lnTo>
                    <a:pt x="4165746" y="1321328"/>
                  </a:lnTo>
                  <a:lnTo>
                    <a:pt x="4149172" y="1362887"/>
                  </a:lnTo>
                  <a:lnTo>
                    <a:pt x="4129364" y="1402683"/>
                  </a:lnTo>
                  <a:lnTo>
                    <a:pt x="4106485" y="1440550"/>
                  </a:lnTo>
                  <a:lnTo>
                    <a:pt x="4080699" y="1476327"/>
                  </a:lnTo>
                  <a:lnTo>
                    <a:pt x="4052169" y="1509849"/>
                  </a:lnTo>
                  <a:lnTo>
                    <a:pt x="4021059" y="1540954"/>
                  </a:lnTo>
                  <a:lnTo>
                    <a:pt x="3987533" y="1569478"/>
                  </a:lnTo>
                  <a:lnTo>
                    <a:pt x="3951754" y="1595258"/>
                  </a:lnTo>
                  <a:lnTo>
                    <a:pt x="3913886" y="1618130"/>
                  </a:lnTo>
                  <a:lnTo>
                    <a:pt x="3874093" y="1637932"/>
                  </a:lnTo>
                  <a:lnTo>
                    <a:pt x="3832538" y="1654499"/>
                  </a:lnTo>
                  <a:lnTo>
                    <a:pt x="3789385" y="1667670"/>
                  </a:lnTo>
                  <a:lnTo>
                    <a:pt x="3744797" y="1677279"/>
                  </a:lnTo>
                  <a:lnTo>
                    <a:pt x="3698939" y="1683164"/>
                  </a:lnTo>
                  <a:lnTo>
                    <a:pt x="3651973" y="1685163"/>
                  </a:lnTo>
                  <a:lnTo>
                    <a:pt x="544410" y="1685163"/>
                  </a:lnTo>
                  <a:lnTo>
                    <a:pt x="497434" y="1683164"/>
                  </a:lnTo>
                  <a:lnTo>
                    <a:pt x="451568" y="1677279"/>
                  </a:lnTo>
                  <a:lnTo>
                    <a:pt x="406976" y="1667670"/>
                  </a:lnTo>
                  <a:lnTo>
                    <a:pt x="363820" y="1654499"/>
                  </a:lnTo>
                  <a:lnTo>
                    <a:pt x="322265" y="1637932"/>
                  </a:lnTo>
                  <a:lnTo>
                    <a:pt x="282473" y="1618130"/>
                  </a:lnTo>
                  <a:lnTo>
                    <a:pt x="244608" y="1595258"/>
                  </a:lnTo>
                  <a:lnTo>
                    <a:pt x="208833" y="1569478"/>
                  </a:lnTo>
                  <a:lnTo>
                    <a:pt x="175312" y="1540954"/>
                  </a:lnTo>
                  <a:lnTo>
                    <a:pt x="144208" y="1509849"/>
                  </a:lnTo>
                  <a:lnTo>
                    <a:pt x="115685" y="1476327"/>
                  </a:lnTo>
                  <a:lnTo>
                    <a:pt x="89905" y="1440550"/>
                  </a:lnTo>
                  <a:lnTo>
                    <a:pt x="67033" y="1402683"/>
                  </a:lnTo>
                  <a:lnTo>
                    <a:pt x="47231" y="1362887"/>
                  </a:lnTo>
                  <a:lnTo>
                    <a:pt x="30664" y="1321328"/>
                  </a:lnTo>
                  <a:lnTo>
                    <a:pt x="17493" y="1278168"/>
                  </a:lnTo>
                  <a:lnTo>
                    <a:pt x="7883" y="1233570"/>
                  </a:lnTo>
                  <a:lnTo>
                    <a:pt x="1998" y="1187697"/>
                  </a:lnTo>
                  <a:lnTo>
                    <a:pt x="0" y="1140714"/>
                  </a:lnTo>
                  <a:lnTo>
                    <a:pt x="0" y="544449"/>
                  </a:lnTo>
                  <a:close/>
                </a:path>
              </a:pathLst>
            </a:custGeom>
            <a:ln w="7620">
              <a:solidFill>
                <a:srgbClr val="4683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15695" y="4063441"/>
            <a:ext cx="3564254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10" dirty="0">
                <a:latin typeface="Lucida Sans Unicode"/>
                <a:cs typeface="Lucida Sans Unicode"/>
              </a:rPr>
              <a:t>Common</a:t>
            </a:r>
            <a:r>
              <a:rPr sz="2200" spc="-65" dirty="0">
                <a:latin typeface="Lucida Sans Unicode"/>
                <a:cs typeface="Lucida Sans Unicode"/>
              </a:rPr>
              <a:t> </a:t>
            </a:r>
            <a:r>
              <a:rPr sz="2200" spc="-10" dirty="0">
                <a:latin typeface="Lucida Sans Unicode"/>
                <a:cs typeface="Lucida Sans Unicode"/>
              </a:rPr>
              <a:t>Threat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38300"/>
              </a:lnSpc>
              <a:spcBef>
                <a:spcPts val="944"/>
              </a:spcBef>
            </a:pPr>
            <a:r>
              <a:rPr sz="1750" dirty="0">
                <a:latin typeface="Trebuchet MS"/>
                <a:cs typeface="Trebuchet MS"/>
              </a:rPr>
              <a:t>Phishing</a:t>
            </a:r>
            <a:r>
              <a:rPr sz="1750" spc="-55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is</a:t>
            </a:r>
            <a:r>
              <a:rPr sz="1750" spc="-30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one</a:t>
            </a:r>
            <a:r>
              <a:rPr sz="1750" spc="-95" dirty="0">
                <a:latin typeface="Trebuchet MS"/>
                <a:cs typeface="Trebuchet MS"/>
              </a:rPr>
              <a:t> </a:t>
            </a:r>
            <a:r>
              <a:rPr sz="1750" spc="-25" dirty="0">
                <a:latin typeface="Trebuchet MS"/>
                <a:cs typeface="Trebuchet MS"/>
              </a:rPr>
              <a:t>of</a:t>
            </a:r>
            <a:r>
              <a:rPr sz="1750" spc="-85" dirty="0">
                <a:latin typeface="Trebuchet MS"/>
                <a:cs typeface="Trebuchet MS"/>
              </a:rPr>
              <a:t> </a:t>
            </a:r>
            <a:r>
              <a:rPr sz="1750" spc="-70" dirty="0">
                <a:latin typeface="Trebuchet MS"/>
                <a:cs typeface="Trebuchet MS"/>
              </a:rPr>
              <a:t>the</a:t>
            </a:r>
            <a:r>
              <a:rPr sz="1750" spc="-100" dirty="0">
                <a:latin typeface="Trebuchet MS"/>
                <a:cs typeface="Trebuchet MS"/>
              </a:rPr>
              <a:t> </a:t>
            </a:r>
            <a:r>
              <a:rPr sz="1750" dirty="0">
                <a:latin typeface="Trebuchet MS"/>
                <a:cs typeface="Trebuchet MS"/>
              </a:rPr>
              <a:t>most</a:t>
            </a:r>
            <a:r>
              <a:rPr sz="1750" spc="-105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common </a:t>
            </a:r>
            <a:r>
              <a:rPr sz="1750" spc="-45" dirty="0">
                <a:latin typeface="Trebuchet MS"/>
                <a:cs typeface="Trebuchet MS"/>
              </a:rPr>
              <a:t>cyber</a:t>
            </a:r>
            <a:r>
              <a:rPr sz="1750" spc="-145" dirty="0">
                <a:latin typeface="Trebuchet MS"/>
                <a:cs typeface="Trebuchet MS"/>
              </a:rPr>
              <a:t> </a:t>
            </a:r>
            <a:r>
              <a:rPr sz="1750" spc="-85" dirty="0">
                <a:latin typeface="Trebuchet MS"/>
                <a:cs typeface="Trebuchet MS"/>
              </a:rPr>
              <a:t>threats,</a:t>
            </a:r>
            <a:r>
              <a:rPr sz="1750" spc="-110" dirty="0">
                <a:latin typeface="Trebuchet MS"/>
                <a:cs typeface="Trebuchet MS"/>
              </a:rPr>
              <a:t> </a:t>
            </a:r>
            <a:r>
              <a:rPr sz="1750" spc="-50" dirty="0">
                <a:latin typeface="Trebuchet MS"/>
                <a:cs typeface="Trebuchet MS"/>
              </a:rPr>
              <a:t>but</a:t>
            </a:r>
            <a:r>
              <a:rPr sz="1750" spc="-65" dirty="0">
                <a:latin typeface="Trebuchet MS"/>
                <a:cs typeface="Trebuchet MS"/>
              </a:rPr>
              <a:t> </a:t>
            </a:r>
            <a:r>
              <a:rPr sz="1750" spc="-20" dirty="0">
                <a:latin typeface="Trebuchet MS"/>
                <a:cs typeface="Trebuchet MS"/>
              </a:rPr>
              <a:t>it's</a:t>
            </a:r>
            <a:r>
              <a:rPr sz="1750" spc="-75" dirty="0">
                <a:latin typeface="Trebuchet MS"/>
                <a:cs typeface="Trebuchet MS"/>
              </a:rPr>
              <a:t> </a:t>
            </a:r>
            <a:r>
              <a:rPr sz="1750" spc="-10" dirty="0">
                <a:latin typeface="Trebuchet MS"/>
                <a:cs typeface="Trebuchet MS"/>
              </a:rPr>
              <a:t>preventable.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213096" y="3849623"/>
            <a:ext cx="4204335" cy="1692910"/>
            <a:chOff x="5213096" y="3849623"/>
            <a:chExt cx="4204335" cy="1692910"/>
          </a:xfrm>
        </p:grpSpPr>
        <p:sp>
          <p:nvSpPr>
            <p:cNvPr id="8" name="object 8"/>
            <p:cNvSpPr/>
            <p:nvPr/>
          </p:nvSpPr>
          <p:spPr>
            <a:xfrm>
              <a:off x="5216906" y="3853433"/>
              <a:ext cx="4196715" cy="1685289"/>
            </a:xfrm>
            <a:custGeom>
              <a:avLst/>
              <a:gdLst/>
              <a:ahLst/>
              <a:cxnLst/>
              <a:rect l="l" t="t" r="r" b="b"/>
              <a:pathLst>
                <a:path w="4196715" h="1685289">
                  <a:moveTo>
                    <a:pt x="3652012" y="0"/>
                  </a:moveTo>
                  <a:lnTo>
                    <a:pt x="544449" y="0"/>
                  </a:lnTo>
                  <a:lnTo>
                    <a:pt x="497483" y="1998"/>
                  </a:lnTo>
                  <a:lnTo>
                    <a:pt x="451625" y="7883"/>
                  </a:lnTo>
                  <a:lnTo>
                    <a:pt x="407037" y="17492"/>
                  </a:lnTo>
                  <a:lnTo>
                    <a:pt x="363884" y="30663"/>
                  </a:lnTo>
                  <a:lnTo>
                    <a:pt x="322329" y="47230"/>
                  </a:lnTo>
                  <a:lnTo>
                    <a:pt x="282536" y="67032"/>
                  </a:lnTo>
                  <a:lnTo>
                    <a:pt x="244668" y="89904"/>
                  </a:lnTo>
                  <a:lnTo>
                    <a:pt x="208889" y="115684"/>
                  </a:lnTo>
                  <a:lnTo>
                    <a:pt x="175363" y="144208"/>
                  </a:lnTo>
                  <a:lnTo>
                    <a:pt x="144253" y="175313"/>
                  </a:lnTo>
                  <a:lnTo>
                    <a:pt x="115723" y="208835"/>
                  </a:lnTo>
                  <a:lnTo>
                    <a:pt x="89937" y="244612"/>
                  </a:lnTo>
                  <a:lnTo>
                    <a:pt x="67058" y="282479"/>
                  </a:lnTo>
                  <a:lnTo>
                    <a:pt x="47250" y="322275"/>
                  </a:lnTo>
                  <a:lnTo>
                    <a:pt x="30676" y="363834"/>
                  </a:lnTo>
                  <a:lnTo>
                    <a:pt x="17500" y="406994"/>
                  </a:lnTo>
                  <a:lnTo>
                    <a:pt x="7887" y="451592"/>
                  </a:lnTo>
                  <a:lnTo>
                    <a:pt x="1999" y="497465"/>
                  </a:lnTo>
                  <a:lnTo>
                    <a:pt x="0" y="544449"/>
                  </a:lnTo>
                  <a:lnTo>
                    <a:pt x="0" y="1140714"/>
                  </a:lnTo>
                  <a:lnTo>
                    <a:pt x="1999" y="1187697"/>
                  </a:lnTo>
                  <a:lnTo>
                    <a:pt x="7887" y="1233570"/>
                  </a:lnTo>
                  <a:lnTo>
                    <a:pt x="17500" y="1278168"/>
                  </a:lnTo>
                  <a:lnTo>
                    <a:pt x="30676" y="1321328"/>
                  </a:lnTo>
                  <a:lnTo>
                    <a:pt x="47250" y="1362887"/>
                  </a:lnTo>
                  <a:lnTo>
                    <a:pt x="67058" y="1402683"/>
                  </a:lnTo>
                  <a:lnTo>
                    <a:pt x="89937" y="1440550"/>
                  </a:lnTo>
                  <a:lnTo>
                    <a:pt x="115723" y="1476327"/>
                  </a:lnTo>
                  <a:lnTo>
                    <a:pt x="144253" y="1509849"/>
                  </a:lnTo>
                  <a:lnTo>
                    <a:pt x="175363" y="1540954"/>
                  </a:lnTo>
                  <a:lnTo>
                    <a:pt x="208889" y="1569478"/>
                  </a:lnTo>
                  <a:lnTo>
                    <a:pt x="244668" y="1595258"/>
                  </a:lnTo>
                  <a:lnTo>
                    <a:pt x="282536" y="1618130"/>
                  </a:lnTo>
                  <a:lnTo>
                    <a:pt x="322329" y="1637932"/>
                  </a:lnTo>
                  <a:lnTo>
                    <a:pt x="363884" y="1654499"/>
                  </a:lnTo>
                  <a:lnTo>
                    <a:pt x="407037" y="1667670"/>
                  </a:lnTo>
                  <a:lnTo>
                    <a:pt x="451625" y="1677279"/>
                  </a:lnTo>
                  <a:lnTo>
                    <a:pt x="497483" y="1683164"/>
                  </a:lnTo>
                  <a:lnTo>
                    <a:pt x="544449" y="1685163"/>
                  </a:lnTo>
                  <a:lnTo>
                    <a:pt x="3652012" y="1685163"/>
                  </a:lnTo>
                  <a:lnTo>
                    <a:pt x="3698995" y="1683164"/>
                  </a:lnTo>
                  <a:lnTo>
                    <a:pt x="3744868" y="1677279"/>
                  </a:lnTo>
                  <a:lnTo>
                    <a:pt x="3789466" y="1667670"/>
                  </a:lnTo>
                  <a:lnTo>
                    <a:pt x="3832626" y="1654499"/>
                  </a:lnTo>
                  <a:lnTo>
                    <a:pt x="3874185" y="1637932"/>
                  </a:lnTo>
                  <a:lnTo>
                    <a:pt x="3913981" y="1618130"/>
                  </a:lnTo>
                  <a:lnTo>
                    <a:pt x="3951848" y="1595258"/>
                  </a:lnTo>
                  <a:lnTo>
                    <a:pt x="3987625" y="1569478"/>
                  </a:lnTo>
                  <a:lnTo>
                    <a:pt x="4021147" y="1540954"/>
                  </a:lnTo>
                  <a:lnTo>
                    <a:pt x="4052252" y="1509849"/>
                  </a:lnTo>
                  <a:lnTo>
                    <a:pt x="4080776" y="1476327"/>
                  </a:lnTo>
                  <a:lnTo>
                    <a:pt x="4106556" y="1440550"/>
                  </a:lnTo>
                  <a:lnTo>
                    <a:pt x="4129428" y="1402683"/>
                  </a:lnTo>
                  <a:lnTo>
                    <a:pt x="4149230" y="1362887"/>
                  </a:lnTo>
                  <a:lnTo>
                    <a:pt x="4165797" y="1321328"/>
                  </a:lnTo>
                  <a:lnTo>
                    <a:pt x="4178968" y="1278168"/>
                  </a:lnTo>
                  <a:lnTo>
                    <a:pt x="4188577" y="1233570"/>
                  </a:lnTo>
                  <a:lnTo>
                    <a:pt x="4194462" y="1187697"/>
                  </a:lnTo>
                  <a:lnTo>
                    <a:pt x="4196461" y="1140714"/>
                  </a:lnTo>
                  <a:lnTo>
                    <a:pt x="4196461" y="544449"/>
                  </a:lnTo>
                  <a:lnTo>
                    <a:pt x="4194462" y="497465"/>
                  </a:lnTo>
                  <a:lnTo>
                    <a:pt x="4188577" y="451592"/>
                  </a:lnTo>
                  <a:lnTo>
                    <a:pt x="4178968" y="406994"/>
                  </a:lnTo>
                  <a:lnTo>
                    <a:pt x="4165797" y="363834"/>
                  </a:lnTo>
                  <a:lnTo>
                    <a:pt x="4149230" y="322275"/>
                  </a:lnTo>
                  <a:lnTo>
                    <a:pt x="4129428" y="282479"/>
                  </a:lnTo>
                  <a:lnTo>
                    <a:pt x="4106556" y="244612"/>
                  </a:lnTo>
                  <a:lnTo>
                    <a:pt x="4080776" y="208835"/>
                  </a:lnTo>
                  <a:lnTo>
                    <a:pt x="4052252" y="175313"/>
                  </a:lnTo>
                  <a:lnTo>
                    <a:pt x="4021147" y="144208"/>
                  </a:lnTo>
                  <a:lnTo>
                    <a:pt x="3987625" y="115684"/>
                  </a:lnTo>
                  <a:lnTo>
                    <a:pt x="3951848" y="89904"/>
                  </a:lnTo>
                  <a:lnTo>
                    <a:pt x="3913981" y="67032"/>
                  </a:lnTo>
                  <a:lnTo>
                    <a:pt x="3874185" y="47230"/>
                  </a:lnTo>
                  <a:lnTo>
                    <a:pt x="3832626" y="30663"/>
                  </a:lnTo>
                  <a:lnTo>
                    <a:pt x="3789466" y="17492"/>
                  </a:lnTo>
                  <a:lnTo>
                    <a:pt x="3744868" y="7883"/>
                  </a:lnTo>
                  <a:lnTo>
                    <a:pt x="3698995" y="1998"/>
                  </a:lnTo>
                  <a:lnTo>
                    <a:pt x="3652012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216906" y="3853433"/>
              <a:ext cx="4196715" cy="1685289"/>
            </a:xfrm>
            <a:custGeom>
              <a:avLst/>
              <a:gdLst/>
              <a:ahLst/>
              <a:cxnLst/>
              <a:rect l="l" t="t" r="r" b="b"/>
              <a:pathLst>
                <a:path w="4196715" h="1685289">
                  <a:moveTo>
                    <a:pt x="0" y="544449"/>
                  </a:moveTo>
                  <a:lnTo>
                    <a:pt x="1999" y="497465"/>
                  </a:lnTo>
                  <a:lnTo>
                    <a:pt x="7887" y="451592"/>
                  </a:lnTo>
                  <a:lnTo>
                    <a:pt x="17500" y="406994"/>
                  </a:lnTo>
                  <a:lnTo>
                    <a:pt x="30676" y="363834"/>
                  </a:lnTo>
                  <a:lnTo>
                    <a:pt x="47250" y="322275"/>
                  </a:lnTo>
                  <a:lnTo>
                    <a:pt x="67058" y="282479"/>
                  </a:lnTo>
                  <a:lnTo>
                    <a:pt x="89937" y="244612"/>
                  </a:lnTo>
                  <a:lnTo>
                    <a:pt x="115723" y="208835"/>
                  </a:lnTo>
                  <a:lnTo>
                    <a:pt x="144253" y="175313"/>
                  </a:lnTo>
                  <a:lnTo>
                    <a:pt x="175363" y="144208"/>
                  </a:lnTo>
                  <a:lnTo>
                    <a:pt x="208889" y="115684"/>
                  </a:lnTo>
                  <a:lnTo>
                    <a:pt x="244668" y="89904"/>
                  </a:lnTo>
                  <a:lnTo>
                    <a:pt x="282536" y="67032"/>
                  </a:lnTo>
                  <a:lnTo>
                    <a:pt x="322329" y="47230"/>
                  </a:lnTo>
                  <a:lnTo>
                    <a:pt x="363884" y="30663"/>
                  </a:lnTo>
                  <a:lnTo>
                    <a:pt x="407037" y="17492"/>
                  </a:lnTo>
                  <a:lnTo>
                    <a:pt x="451625" y="7883"/>
                  </a:lnTo>
                  <a:lnTo>
                    <a:pt x="497483" y="1998"/>
                  </a:lnTo>
                  <a:lnTo>
                    <a:pt x="544449" y="0"/>
                  </a:lnTo>
                  <a:lnTo>
                    <a:pt x="3652012" y="0"/>
                  </a:lnTo>
                  <a:lnTo>
                    <a:pt x="3698995" y="1998"/>
                  </a:lnTo>
                  <a:lnTo>
                    <a:pt x="3744868" y="7883"/>
                  </a:lnTo>
                  <a:lnTo>
                    <a:pt x="3789466" y="17492"/>
                  </a:lnTo>
                  <a:lnTo>
                    <a:pt x="3832626" y="30663"/>
                  </a:lnTo>
                  <a:lnTo>
                    <a:pt x="3874185" y="47230"/>
                  </a:lnTo>
                  <a:lnTo>
                    <a:pt x="3913981" y="67032"/>
                  </a:lnTo>
                  <a:lnTo>
                    <a:pt x="3951848" y="89904"/>
                  </a:lnTo>
                  <a:lnTo>
                    <a:pt x="3987625" y="115684"/>
                  </a:lnTo>
                  <a:lnTo>
                    <a:pt x="4021147" y="144208"/>
                  </a:lnTo>
                  <a:lnTo>
                    <a:pt x="4052252" y="175313"/>
                  </a:lnTo>
                  <a:lnTo>
                    <a:pt x="4080776" y="208835"/>
                  </a:lnTo>
                  <a:lnTo>
                    <a:pt x="4106556" y="244612"/>
                  </a:lnTo>
                  <a:lnTo>
                    <a:pt x="4129428" y="282479"/>
                  </a:lnTo>
                  <a:lnTo>
                    <a:pt x="4149230" y="322275"/>
                  </a:lnTo>
                  <a:lnTo>
                    <a:pt x="4165797" y="363834"/>
                  </a:lnTo>
                  <a:lnTo>
                    <a:pt x="4178968" y="406994"/>
                  </a:lnTo>
                  <a:lnTo>
                    <a:pt x="4188577" y="451592"/>
                  </a:lnTo>
                  <a:lnTo>
                    <a:pt x="4194462" y="497465"/>
                  </a:lnTo>
                  <a:lnTo>
                    <a:pt x="4196461" y="544449"/>
                  </a:lnTo>
                  <a:lnTo>
                    <a:pt x="4196461" y="1140714"/>
                  </a:lnTo>
                  <a:lnTo>
                    <a:pt x="4194462" y="1187697"/>
                  </a:lnTo>
                  <a:lnTo>
                    <a:pt x="4188577" y="1233570"/>
                  </a:lnTo>
                  <a:lnTo>
                    <a:pt x="4178968" y="1278168"/>
                  </a:lnTo>
                  <a:lnTo>
                    <a:pt x="4165797" y="1321328"/>
                  </a:lnTo>
                  <a:lnTo>
                    <a:pt x="4149230" y="1362887"/>
                  </a:lnTo>
                  <a:lnTo>
                    <a:pt x="4129428" y="1402683"/>
                  </a:lnTo>
                  <a:lnTo>
                    <a:pt x="4106556" y="1440550"/>
                  </a:lnTo>
                  <a:lnTo>
                    <a:pt x="4080776" y="1476327"/>
                  </a:lnTo>
                  <a:lnTo>
                    <a:pt x="4052252" y="1509849"/>
                  </a:lnTo>
                  <a:lnTo>
                    <a:pt x="4021147" y="1540954"/>
                  </a:lnTo>
                  <a:lnTo>
                    <a:pt x="3987625" y="1569478"/>
                  </a:lnTo>
                  <a:lnTo>
                    <a:pt x="3951848" y="1595258"/>
                  </a:lnTo>
                  <a:lnTo>
                    <a:pt x="3913981" y="1618130"/>
                  </a:lnTo>
                  <a:lnTo>
                    <a:pt x="3874185" y="1637932"/>
                  </a:lnTo>
                  <a:lnTo>
                    <a:pt x="3832626" y="1654499"/>
                  </a:lnTo>
                  <a:lnTo>
                    <a:pt x="3789466" y="1667670"/>
                  </a:lnTo>
                  <a:lnTo>
                    <a:pt x="3744868" y="1677279"/>
                  </a:lnTo>
                  <a:lnTo>
                    <a:pt x="3698995" y="1683164"/>
                  </a:lnTo>
                  <a:lnTo>
                    <a:pt x="3652012" y="1685163"/>
                  </a:lnTo>
                  <a:lnTo>
                    <a:pt x="544449" y="1685163"/>
                  </a:lnTo>
                  <a:lnTo>
                    <a:pt x="497483" y="1683164"/>
                  </a:lnTo>
                  <a:lnTo>
                    <a:pt x="451625" y="1677279"/>
                  </a:lnTo>
                  <a:lnTo>
                    <a:pt x="407037" y="1667670"/>
                  </a:lnTo>
                  <a:lnTo>
                    <a:pt x="363884" y="1654499"/>
                  </a:lnTo>
                  <a:lnTo>
                    <a:pt x="322329" y="1637932"/>
                  </a:lnTo>
                  <a:lnTo>
                    <a:pt x="282536" y="1618130"/>
                  </a:lnTo>
                  <a:lnTo>
                    <a:pt x="244668" y="1595258"/>
                  </a:lnTo>
                  <a:lnTo>
                    <a:pt x="208889" y="1569478"/>
                  </a:lnTo>
                  <a:lnTo>
                    <a:pt x="175363" y="1540954"/>
                  </a:lnTo>
                  <a:lnTo>
                    <a:pt x="144253" y="1509849"/>
                  </a:lnTo>
                  <a:lnTo>
                    <a:pt x="115723" y="1476327"/>
                  </a:lnTo>
                  <a:lnTo>
                    <a:pt x="89937" y="1440550"/>
                  </a:lnTo>
                  <a:lnTo>
                    <a:pt x="67058" y="1402683"/>
                  </a:lnTo>
                  <a:lnTo>
                    <a:pt x="47250" y="1362887"/>
                  </a:lnTo>
                  <a:lnTo>
                    <a:pt x="30676" y="1321328"/>
                  </a:lnTo>
                  <a:lnTo>
                    <a:pt x="17500" y="1278168"/>
                  </a:lnTo>
                  <a:lnTo>
                    <a:pt x="7887" y="1233570"/>
                  </a:lnTo>
                  <a:lnTo>
                    <a:pt x="1999" y="1187697"/>
                  </a:lnTo>
                  <a:lnTo>
                    <a:pt x="0" y="1140714"/>
                  </a:lnTo>
                  <a:lnTo>
                    <a:pt x="0" y="544449"/>
                  </a:lnTo>
                  <a:close/>
                </a:path>
              </a:pathLst>
            </a:custGeom>
            <a:ln w="7620">
              <a:solidFill>
                <a:srgbClr val="1A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439283" y="4063441"/>
            <a:ext cx="3159760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Think</a:t>
            </a:r>
            <a:r>
              <a:rPr sz="2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Before</a:t>
            </a:r>
            <a:r>
              <a:rPr sz="22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You</a:t>
            </a:r>
            <a:r>
              <a:rPr sz="22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Click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38300"/>
              </a:lnSpc>
              <a:spcBef>
                <a:spcPts val="944"/>
              </a:spcBef>
            </a:pPr>
            <a:r>
              <a:rPr sz="1750" dirty="0">
                <a:solidFill>
                  <a:srgbClr val="FFFFFF"/>
                </a:solidFill>
                <a:latin typeface="Trebuchet MS"/>
                <a:cs typeface="Trebuchet MS"/>
              </a:rPr>
              <a:t>Always</a:t>
            </a:r>
            <a:r>
              <a:rPr sz="1750" spc="-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65" dirty="0">
                <a:solidFill>
                  <a:srgbClr val="FFFFFF"/>
                </a:solidFill>
                <a:latin typeface="Trebuchet MS"/>
                <a:cs typeface="Trebuchet MS"/>
              </a:rPr>
              <a:t>think</a:t>
            </a:r>
            <a:r>
              <a:rPr sz="175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55" dirty="0">
                <a:solidFill>
                  <a:srgbClr val="FFFFFF"/>
                </a:solidFill>
                <a:latin typeface="Trebuchet MS"/>
                <a:cs typeface="Trebuchet MS"/>
              </a:rPr>
              <a:t>before</a:t>
            </a:r>
            <a:r>
              <a:rPr sz="1750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Trebuchet MS"/>
                <a:cs typeface="Trebuchet MS"/>
              </a:rPr>
              <a:t>you</a:t>
            </a:r>
            <a:r>
              <a:rPr sz="175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50" dirty="0">
                <a:solidFill>
                  <a:srgbClr val="FFFFFF"/>
                </a:solidFill>
                <a:latin typeface="Trebuchet MS"/>
                <a:cs typeface="Trebuchet MS"/>
              </a:rPr>
              <a:t>click</a:t>
            </a:r>
            <a:r>
              <a:rPr sz="1750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Trebuchet MS"/>
                <a:cs typeface="Trebuchet MS"/>
              </a:rPr>
              <a:t>on </a:t>
            </a:r>
            <a:r>
              <a:rPr sz="1750" dirty="0">
                <a:solidFill>
                  <a:srgbClr val="FFFFFF"/>
                </a:solidFill>
                <a:latin typeface="Trebuchet MS"/>
                <a:cs typeface="Trebuchet MS"/>
              </a:rPr>
              <a:t>suspicious</a:t>
            </a:r>
            <a:r>
              <a:rPr sz="175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Trebuchet MS"/>
                <a:cs typeface="Trebuchet MS"/>
              </a:rPr>
              <a:t>links</a:t>
            </a:r>
            <a:r>
              <a:rPr sz="1750" spc="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3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1750" spc="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30" dirty="0">
                <a:solidFill>
                  <a:srgbClr val="FFFFFF"/>
                </a:solidFill>
                <a:latin typeface="Trebuchet MS"/>
                <a:cs typeface="Trebuchet MS"/>
              </a:rPr>
              <a:t>attachments.</a:t>
            </a:r>
            <a:endParaRPr sz="175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636379" y="3849623"/>
            <a:ext cx="4204335" cy="1692910"/>
            <a:chOff x="9636379" y="3849623"/>
            <a:chExt cx="4204335" cy="1692910"/>
          </a:xfrm>
        </p:grpSpPr>
        <p:sp>
          <p:nvSpPr>
            <p:cNvPr id="12" name="object 12"/>
            <p:cNvSpPr/>
            <p:nvPr/>
          </p:nvSpPr>
          <p:spPr>
            <a:xfrm>
              <a:off x="9640189" y="3853433"/>
              <a:ext cx="4196715" cy="1685289"/>
            </a:xfrm>
            <a:custGeom>
              <a:avLst/>
              <a:gdLst/>
              <a:ahLst/>
              <a:cxnLst/>
              <a:rect l="l" t="t" r="r" b="b"/>
              <a:pathLst>
                <a:path w="4196715" h="1685289">
                  <a:moveTo>
                    <a:pt x="3651884" y="0"/>
                  </a:moveTo>
                  <a:lnTo>
                    <a:pt x="544321" y="0"/>
                  </a:lnTo>
                  <a:lnTo>
                    <a:pt x="497357" y="1998"/>
                  </a:lnTo>
                  <a:lnTo>
                    <a:pt x="451502" y="7883"/>
                  </a:lnTo>
                  <a:lnTo>
                    <a:pt x="406919" y="17492"/>
                  </a:lnTo>
                  <a:lnTo>
                    <a:pt x="363771" y="30663"/>
                  </a:lnTo>
                  <a:lnTo>
                    <a:pt x="322224" y="47230"/>
                  </a:lnTo>
                  <a:lnTo>
                    <a:pt x="282439" y="67032"/>
                  </a:lnTo>
                  <a:lnTo>
                    <a:pt x="244580" y="89904"/>
                  </a:lnTo>
                  <a:lnTo>
                    <a:pt x="208811" y="115684"/>
                  </a:lnTo>
                  <a:lnTo>
                    <a:pt x="175294" y="144208"/>
                  </a:lnTo>
                  <a:lnTo>
                    <a:pt x="144194" y="175313"/>
                  </a:lnTo>
                  <a:lnTo>
                    <a:pt x="115674" y="208835"/>
                  </a:lnTo>
                  <a:lnTo>
                    <a:pt x="89898" y="244612"/>
                  </a:lnTo>
                  <a:lnTo>
                    <a:pt x="67028" y="282479"/>
                  </a:lnTo>
                  <a:lnTo>
                    <a:pt x="47228" y="322275"/>
                  </a:lnTo>
                  <a:lnTo>
                    <a:pt x="30661" y="363834"/>
                  </a:lnTo>
                  <a:lnTo>
                    <a:pt x="17492" y="406994"/>
                  </a:lnTo>
                  <a:lnTo>
                    <a:pt x="7883" y="451592"/>
                  </a:lnTo>
                  <a:lnTo>
                    <a:pt x="1998" y="497465"/>
                  </a:lnTo>
                  <a:lnTo>
                    <a:pt x="0" y="544449"/>
                  </a:lnTo>
                  <a:lnTo>
                    <a:pt x="0" y="1140714"/>
                  </a:lnTo>
                  <a:lnTo>
                    <a:pt x="1998" y="1187697"/>
                  </a:lnTo>
                  <a:lnTo>
                    <a:pt x="7883" y="1233570"/>
                  </a:lnTo>
                  <a:lnTo>
                    <a:pt x="17492" y="1278168"/>
                  </a:lnTo>
                  <a:lnTo>
                    <a:pt x="30661" y="1321328"/>
                  </a:lnTo>
                  <a:lnTo>
                    <a:pt x="47228" y="1362887"/>
                  </a:lnTo>
                  <a:lnTo>
                    <a:pt x="67028" y="1402683"/>
                  </a:lnTo>
                  <a:lnTo>
                    <a:pt x="89898" y="1440550"/>
                  </a:lnTo>
                  <a:lnTo>
                    <a:pt x="115674" y="1476327"/>
                  </a:lnTo>
                  <a:lnTo>
                    <a:pt x="144194" y="1509849"/>
                  </a:lnTo>
                  <a:lnTo>
                    <a:pt x="175294" y="1540954"/>
                  </a:lnTo>
                  <a:lnTo>
                    <a:pt x="208811" y="1569478"/>
                  </a:lnTo>
                  <a:lnTo>
                    <a:pt x="244580" y="1595258"/>
                  </a:lnTo>
                  <a:lnTo>
                    <a:pt x="282439" y="1618130"/>
                  </a:lnTo>
                  <a:lnTo>
                    <a:pt x="322224" y="1637932"/>
                  </a:lnTo>
                  <a:lnTo>
                    <a:pt x="363771" y="1654499"/>
                  </a:lnTo>
                  <a:lnTo>
                    <a:pt x="406919" y="1667670"/>
                  </a:lnTo>
                  <a:lnTo>
                    <a:pt x="451502" y="1677279"/>
                  </a:lnTo>
                  <a:lnTo>
                    <a:pt x="497357" y="1683164"/>
                  </a:lnTo>
                  <a:lnTo>
                    <a:pt x="544321" y="1685163"/>
                  </a:lnTo>
                  <a:lnTo>
                    <a:pt x="3651884" y="1685163"/>
                  </a:lnTo>
                  <a:lnTo>
                    <a:pt x="3698868" y="1683164"/>
                  </a:lnTo>
                  <a:lnTo>
                    <a:pt x="3744741" y="1677279"/>
                  </a:lnTo>
                  <a:lnTo>
                    <a:pt x="3789339" y="1667670"/>
                  </a:lnTo>
                  <a:lnTo>
                    <a:pt x="3832499" y="1654499"/>
                  </a:lnTo>
                  <a:lnTo>
                    <a:pt x="3874058" y="1637932"/>
                  </a:lnTo>
                  <a:lnTo>
                    <a:pt x="3913854" y="1618130"/>
                  </a:lnTo>
                  <a:lnTo>
                    <a:pt x="3951721" y="1595258"/>
                  </a:lnTo>
                  <a:lnTo>
                    <a:pt x="3987498" y="1569478"/>
                  </a:lnTo>
                  <a:lnTo>
                    <a:pt x="4021020" y="1540954"/>
                  </a:lnTo>
                  <a:lnTo>
                    <a:pt x="4052125" y="1509849"/>
                  </a:lnTo>
                  <a:lnTo>
                    <a:pt x="4080649" y="1476327"/>
                  </a:lnTo>
                  <a:lnTo>
                    <a:pt x="4106429" y="1440550"/>
                  </a:lnTo>
                  <a:lnTo>
                    <a:pt x="4129301" y="1402683"/>
                  </a:lnTo>
                  <a:lnTo>
                    <a:pt x="4149103" y="1362887"/>
                  </a:lnTo>
                  <a:lnTo>
                    <a:pt x="4165670" y="1321328"/>
                  </a:lnTo>
                  <a:lnTo>
                    <a:pt x="4178841" y="1278168"/>
                  </a:lnTo>
                  <a:lnTo>
                    <a:pt x="4188450" y="1233570"/>
                  </a:lnTo>
                  <a:lnTo>
                    <a:pt x="4194335" y="1187697"/>
                  </a:lnTo>
                  <a:lnTo>
                    <a:pt x="4196333" y="1140714"/>
                  </a:lnTo>
                  <a:lnTo>
                    <a:pt x="4196333" y="544449"/>
                  </a:lnTo>
                  <a:lnTo>
                    <a:pt x="4194335" y="497465"/>
                  </a:lnTo>
                  <a:lnTo>
                    <a:pt x="4188450" y="451592"/>
                  </a:lnTo>
                  <a:lnTo>
                    <a:pt x="4178841" y="406994"/>
                  </a:lnTo>
                  <a:lnTo>
                    <a:pt x="4165670" y="363834"/>
                  </a:lnTo>
                  <a:lnTo>
                    <a:pt x="4149103" y="322275"/>
                  </a:lnTo>
                  <a:lnTo>
                    <a:pt x="4129301" y="282479"/>
                  </a:lnTo>
                  <a:lnTo>
                    <a:pt x="4106429" y="244612"/>
                  </a:lnTo>
                  <a:lnTo>
                    <a:pt x="4080649" y="208835"/>
                  </a:lnTo>
                  <a:lnTo>
                    <a:pt x="4052125" y="175313"/>
                  </a:lnTo>
                  <a:lnTo>
                    <a:pt x="4021020" y="144208"/>
                  </a:lnTo>
                  <a:lnTo>
                    <a:pt x="3987498" y="115684"/>
                  </a:lnTo>
                  <a:lnTo>
                    <a:pt x="3951721" y="89904"/>
                  </a:lnTo>
                  <a:lnTo>
                    <a:pt x="3913854" y="67032"/>
                  </a:lnTo>
                  <a:lnTo>
                    <a:pt x="3874058" y="47230"/>
                  </a:lnTo>
                  <a:lnTo>
                    <a:pt x="3832499" y="30663"/>
                  </a:lnTo>
                  <a:lnTo>
                    <a:pt x="3789339" y="17492"/>
                  </a:lnTo>
                  <a:lnTo>
                    <a:pt x="3744741" y="7883"/>
                  </a:lnTo>
                  <a:lnTo>
                    <a:pt x="3698868" y="1998"/>
                  </a:lnTo>
                  <a:lnTo>
                    <a:pt x="3651884" y="0"/>
                  </a:lnTo>
                  <a:close/>
                </a:path>
              </a:pathLst>
            </a:custGeom>
            <a:solidFill>
              <a:srgbClr val="041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40189" y="3853433"/>
              <a:ext cx="4196715" cy="1685289"/>
            </a:xfrm>
            <a:custGeom>
              <a:avLst/>
              <a:gdLst/>
              <a:ahLst/>
              <a:cxnLst/>
              <a:rect l="l" t="t" r="r" b="b"/>
              <a:pathLst>
                <a:path w="4196715" h="1685289">
                  <a:moveTo>
                    <a:pt x="0" y="544449"/>
                  </a:moveTo>
                  <a:lnTo>
                    <a:pt x="1998" y="497465"/>
                  </a:lnTo>
                  <a:lnTo>
                    <a:pt x="7883" y="451592"/>
                  </a:lnTo>
                  <a:lnTo>
                    <a:pt x="17492" y="406994"/>
                  </a:lnTo>
                  <a:lnTo>
                    <a:pt x="30661" y="363834"/>
                  </a:lnTo>
                  <a:lnTo>
                    <a:pt x="47228" y="322275"/>
                  </a:lnTo>
                  <a:lnTo>
                    <a:pt x="67028" y="282479"/>
                  </a:lnTo>
                  <a:lnTo>
                    <a:pt x="89898" y="244612"/>
                  </a:lnTo>
                  <a:lnTo>
                    <a:pt x="115674" y="208835"/>
                  </a:lnTo>
                  <a:lnTo>
                    <a:pt x="144194" y="175313"/>
                  </a:lnTo>
                  <a:lnTo>
                    <a:pt x="175294" y="144208"/>
                  </a:lnTo>
                  <a:lnTo>
                    <a:pt x="208811" y="115684"/>
                  </a:lnTo>
                  <a:lnTo>
                    <a:pt x="244580" y="89904"/>
                  </a:lnTo>
                  <a:lnTo>
                    <a:pt x="282439" y="67032"/>
                  </a:lnTo>
                  <a:lnTo>
                    <a:pt x="322224" y="47230"/>
                  </a:lnTo>
                  <a:lnTo>
                    <a:pt x="363771" y="30663"/>
                  </a:lnTo>
                  <a:lnTo>
                    <a:pt x="406919" y="17492"/>
                  </a:lnTo>
                  <a:lnTo>
                    <a:pt x="451502" y="7883"/>
                  </a:lnTo>
                  <a:lnTo>
                    <a:pt x="497357" y="1998"/>
                  </a:lnTo>
                  <a:lnTo>
                    <a:pt x="544321" y="0"/>
                  </a:lnTo>
                  <a:lnTo>
                    <a:pt x="3651884" y="0"/>
                  </a:lnTo>
                  <a:lnTo>
                    <a:pt x="3698868" y="1998"/>
                  </a:lnTo>
                  <a:lnTo>
                    <a:pt x="3744741" y="7883"/>
                  </a:lnTo>
                  <a:lnTo>
                    <a:pt x="3789339" y="17492"/>
                  </a:lnTo>
                  <a:lnTo>
                    <a:pt x="3832499" y="30663"/>
                  </a:lnTo>
                  <a:lnTo>
                    <a:pt x="3874058" y="47230"/>
                  </a:lnTo>
                  <a:lnTo>
                    <a:pt x="3913854" y="67032"/>
                  </a:lnTo>
                  <a:lnTo>
                    <a:pt x="3951721" y="89904"/>
                  </a:lnTo>
                  <a:lnTo>
                    <a:pt x="3987498" y="115684"/>
                  </a:lnTo>
                  <a:lnTo>
                    <a:pt x="4021020" y="144208"/>
                  </a:lnTo>
                  <a:lnTo>
                    <a:pt x="4052125" y="175313"/>
                  </a:lnTo>
                  <a:lnTo>
                    <a:pt x="4080649" y="208835"/>
                  </a:lnTo>
                  <a:lnTo>
                    <a:pt x="4106429" y="244612"/>
                  </a:lnTo>
                  <a:lnTo>
                    <a:pt x="4129301" y="282479"/>
                  </a:lnTo>
                  <a:lnTo>
                    <a:pt x="4149103" y="322275"/>
                  </a:lnTo>
                  <a:lnTo>
                    <a:pt x="4165670" y="363834"/>
                  </a:lnTo>
                  <a:lnTo>
                    <a:pt x="4178841" y="406994"/>
                  </a:lnTo>
                  <a:lnTo>
                    <a:pt x="4188450" y="451592"/>
                  </a:lnTo>
                  <a:lnTo>
                    <a:pt x="4194335" y="497465"/>
                  </a:lnTo>
                  <a:lnTo>
                    <a:pt x="4196333" y="544449"/>
                  </a:lnTo>
                  <a:lnTo>
                    <a:pt x="4196333" y="1140714"/>
                  </a:lnTo>
                  <a:lnTo>
                    <a:pt x="4194335" y="1187697"/>
                  </a:lnTo>
                  <a:lnTo>
                    <a:pt x="4188450" y="1233570"/>
                  </a:lnTo>
                  <a:lnTo>
                    <a:pt x="4178841" y="1278168"/>
                  </a:lnTo>
                  <a:lnTo>
                    <a:pt x="4165670" y="1321328"/>
                  </a:lnTo>
                  <a:lnTo>
                    <a:pt x="4149103" y="1362887"/>
                  </a:lnTo>
                  <a:lnTo>
                    <a:pt x="4129301" y="1402683"/>
                  </a:lnTo>
                  <a:lnTo>
                    <a:pt x="4106429" y="1440550"/>
                  </a:lnTo>
                  <a:lnTo>
                    <a:pt x="4080649" y="1476327"/>
                  </a:lnTo>
                  <a:lnTo>
                    <a:pt x="4052125" y="1509849"/>
                  </a:lnTo>
                  <a:lnTo>
                    <a:pt x="4021020" y="1540954"/>
                  </a:lnTo>
                  <a:lnTo>
                    <a:pt x="3987498" y="1569478"/>
                  </a:lnTo>
                  <a:lnTo>
                    <a:pt x="3951721" y="1595258"/>
                  </a:lnTo>
                  <a:lnTo>
                    <a:pt x="3913854" y="1618130"/>
                  </a:lnTo>
                  <a:lnTo>
                    <a:pt x="3874058" y="1637932"/>
                  </a:lnTo>
                  <a:lnTo>
                    <a:pt x="3832499" y="1654499"/>
                  </a:lnTo>
                  <a:lnTo>
                    <a:pt x="3789339" y="1667670"/>
                  </a:lnTo>
                  <a:lnTo>
                    <a:pt x="3744741" y="1677279"/>
                  </a:lnTo>
                  <a:lnTo>
                    <a:pt x="3698868" y="1683164"/>
                  </a:lnTo>
                  <a:lnTo>
                    <a:pt x="3651884" y="1685163"/>
                  </a:lnTo>
                  <a:lnTo>
                    <a:pt x="544321" y="1685163"/>
                  </a:lnTo>
                  <a:lnTo>
                    <a:pt x="497357" y="1683164"/>
                  </a:lnTo>
                  <a:lnTo>
                    <a:pt x="451502" y="1677279"/>
                  </a:lnTo>
                  <a:lnTo>
                    <a:pt x="406919" y="1667670"/>
                  </a:lnTo>
                  <a:lnTo>
                    <a:pt x="363771" y="1654499"/>
                  </a:lnTo>
                  <a:lnTo>
                    <a:pt x="322224" y="1637932"/>
                  </a:lnTo>
                  <a:lnTo>
                    <a:pt x="282439" y="1618130"/>
                  </a:lnTo>
                  <a:lnTo>
                    <a:pt x="244580" y="1595258"/>
                  </a:lnTo>
                  <a:lnTo>
                    <a:pt x="208811" y="1569478"/>
                  </a:lnTo>
                  <a:lnTo>
                    <a:pt x="175294" y="1540954"/>
                  </a:lnTo>
                  <a:lnTo>
                    <a:pt x="144194" y="1509849"/>
                  </a:lnTo>
                  <a:lnTo>
                    <a:pt x="115674" y="1476327"/>
                  </a:lnTo>
                  <a:lnTo>
                    <a:pt x="89898" y="1440550"/>
                  </a:lnTo>
                  <a:lnTo>
                    <a:pt x="67028" y="1402683"/>
                  </a:lnTo>
                  <a:lnTo>
                    <a:pt x="47228" y="1362887"/>
                  </a:lnTo>
                  <a:lnTo>
                    <a:pt x="30661" y="1321328"/>
                  </a:lnTo>
                  <a:lnTo>
                    <a:pt x="17492" y="1278168"/>
                  </a:lnTo>
                  <a:lnTo>
                    <a:pt x="7883" y="1233570"/>
                  </a:lnTo>
                  <a:lnTo>
                    <a:pt x="1998" y="1187697"/>
                  </a:lnTo>
                  <a:lnTo>
                    <a:pt x="0" y="1140714"/>
                  </a:lnTo>
                  <a:lnTo>
                    <a:pt x="0" y="544449"/>
                  </a:lnTo>
                  <a:close/>
                </a:path>
              </a:pathLst>
            </a:custGeom>
            <a:ln w="7620">
              <a:solidFill>
                <a:srgbClr val="1D31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9862819" y="4063441"/>
            <a:ext cx="3618229" cy="1217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45" dirty="0">
                <a:solidFill>
                  <a:srgbClr val="FFFFFF"/>
                </a:solidFill>
                <a:latin typeface="Lucida Sans Unicode"/>
                <a:cs typeface="Lucida Sans Unicode"/>
              </a:rPr>
              <a:t>Your</a:t>
            </a:r>
            <a:r>
              <a:rPr sz="22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dirty="0">
                <a:solidFill>
                  <a:srgbClr val="FFFFFF"/>
                </a:solidFill>
                <a:latin typeface="Lucida Sans Unicode"/>
                <a:cs typeface="Lucida Sans Unicode"/>
              </a:rPr>
              <a:t>Best</a:t>
            </a:r>
            <a:r>
              <a:rPr sz="2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Defense</a:t>
            </a:r>
            <a:endParaRPr sz="2200">
              <a:latin typeface="Lucida Sans Unicode"/>
              <a:cs typeface="Lucida Sans Unicode"/>
            </a:endParaRPr>
          </a:p>
          <a:p>
            <a:pPr marL="12700" marR="5080">
              <a:lnSpc>
                <a:spcPct val="138300"/>
              </a:lnSpc>
              <a:spcBef>
                <a:spcPts val="944"/>
              </a:spcBef>
            </a:pPr>
            <a:r>
              <a:rPr sz="1750" dirty="0">
                <a:solidFill>
                  <a:srgbClr val="FFFFFF"/>
                </a:solidFill>
                <a:latin typeface="Trebuchet MS"/>
                <a:cs typeface="Trebuchet MS"/>
              </a:rPr>
              <a:t>Awareness</a:t>
            </a:r>
            <a:r>
              <a:rPr sz="175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1750" spc="-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30" dirty="0">
                <a:solidFill>
                  <a:srgbClr val="FFFFFF"/>
                </a:solidFill>
                <a:latin typeface="Trebuchet MS"/>
                <a:cs typeface="Trebuchet MS"/>
              </a:rPr>
              <a:t>caution</a:t>
            </a:r>
            <a:r>
              <a:rPr sz="175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55" dirty="0">
                <a:solidFill>
                  <a:srgbClr val="FFFFFF"/>
                </a:solidFill>
                <a:latin typeface="Trebuchet MS"/>
                <a:cs typeface="Trebuchet MS"/>
              </a:rPr>
              <a:t>are</a:t>
            </a:r>
            <a:r>
              <a:rPr sz="1750" spc="-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25" dirty="0">
                <a:solidFill>
                  <a:srgbClr val="FFFFFF"/>
                </a:solidFill>
                <a:latin typeface="Trebuchet MS"/>
                <a:cs typeface="Trebuchet MS"/>
              </a:rPr>
              <a:t>your</a:t>
            </a:r>
            <a:r>
              <a:rPr sz="1750" spc="-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20" dirty="0">
                <a:solidFill>
                  <a:srgbClr val="FFFFFF"/>
                </a:solidFill>
                <a:latin typeface="Trebuchet MS"/>
                <a:cs typeface="Trebuchet MS"/>
              </a:rPr>
              <a:t>best defense</a:t>
            </a:r>
            <a:r>
              <a:rPr sz="1750" spc="-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FFFFFF"/>
                </a:solidFill>
                <a:latin typeface="Trebuchet MS"/>
                <a:cs typeface="Trebuchet MS"/>
              </a:rPr>
              <a:t>against</a:t>
            </a:r>
            <a:r>
              <a:rPr sz="175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dirty="0">
                <a:solidFill>
                  <a:srgbClr val="FFFFFF"/>
                </a:solidFill>
                <a:latin typeface="Trebuchet MS"/>
                <a:cs typeface="Trebuchet MS"/>
              </a:rPr>
              <a:t>phishing</a:t>
            </a:r>
            <a:r>
              <a:rPr sz="175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750" spc="-10" dirty="0">
                <a:solidFill>
                  <a:srgbClr val="FFFFFF"/>
                </a:solidFill>
                <a:latin typeface="Trebuchet MS"/>
                <a:cs typeface="Trebuchet MS"/>
              </a:rPr>
              <a:t>attacks.</a:t>
            </a:r>
            <a:endParaRPr sz="175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79680" y="7685531"/>
            <a:ext cx="1896618" cy="5402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0152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8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304" y="3759454"/>
            <a:ext cx="3134360" cy="1873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1750" u="sng" spc="-10" dirty="0">
                <a:solidFill>
                  <a:srgbClr val="F1F1F3"/>
                </a:solidFill>
                <a:uFill>
                  <a:solidFill>
                    <a:srgbClr val="F1F1F3"/>
                  </a:solidFill>
                </a:uFill>
                <a:latin typeface="Trebuchet MS"/>
                <a:cs typeface="Trebuchet MS"/>
                <a:hlinkClick r:id="rId2"/>
              </a:rPr>
              <a:t>www.phishing.org</a:t>
            </a:r>
            <a:endParaRPr sz="175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385"/>
              </a:spcBef>
              <a:buChar char="•"/>
              <a:tabLst>
                <a:tab pos="354965" algn="l"/>
              </a:tabLst>
            </a:pPr>
            <a:r>
              <a:rPr sz="1750" u="sng" spc="-10" dirty="0">
                <a:solidFill>
                  <a:srgbClr val="F1F1F3"/>
                </a:solidFill>
                <a:uFill>
                  <a:solidFill>
                    <a:srgbClr val="F1F1F3"/>
                  </a:solidFill>
                </a:uFill>
                <a:latin typeface="Trebuchet MS"/>
                <a:cs typeface="Trebuchet MS"/>
                <a:hlinkClick r:id="rId3"/>
              </a:rPr>
              <a:t>www.cyber.gov.in</a:t>
            </a:r>
            <a:endParaRPr sz="175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380"/>
              </a:spcBef>
              <a:buChar char="•"/>
              <a:tabLst>
                <a:tab pos="354965" algn="l"/>
              </a:tabLst>
            </a:pPr>
            <a:r>
              <a:rPr sz="1750" u="sng" spc="-10" dirty="0">
                <a:solidFill>
                  <a:srgbClr val="F1F1F3"/>
                </a:solidFill>
                <a:uFill>
                  <a:solidFill>
                    <a:srgbClr val="F1F1F3"/>
                  </a:solidFill>
                </a:uFill>
                <a:latin typeface="Trebuchet MS"/>
                <a:cs typeface="Trebuchet MS"/>
                <a:hlinkClick r:id="rId4"/>
              </a:rPr>
              <a:t>www.cisa.gov</a:t>
            </a:r>
            <a:endParaRPr sz="17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7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200" dirty="0">
                <a:solidFill>
                  <a:srgbClr val="E4DFDF"/>
                </a:solidFill>
                <a:latin typeface="Trebuchet MS"/>
                <a:cs typeface="Trebuchet MS"/>
              </a:rPr>
              <a:t>Stay</a:t>
            </a:r>
            <a:r>
              <a:rPr sz="2200" spc="-10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spc="-95" dirty="0">
                <a:solidFill>
                  <a:srgbClr val="E4DFDF"/>
                </a:solidFill>
                <a:latin typeface="Trebuchet MS"/>
                <a:cs typeface="Trebuchet MS"/>
              </a:rPr>
              <a:t>vigilant.</a:t>
            </a:r>
            <a:r>
              <a:rPr sz="2200" spc="-70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dirty="0">
                <a:solidFill>
                  <a:srgbClr val="E4DFDF"/>
                </a:solidFill>
                <a:latin typeface="Trebuchet MS"/>
                <a:cs typeface="Trebuchet MS"/>
              </a:rPr>
              <a:t>Stay</a:t>
            </a:r>
            <a:r>
              <a:rPr sz="2200" spc="-95" dirty="0">
                <a:solidFill>
                  <a:srgbClr val="E4DFDF"/>
                </a:solidFill>
                <a:latin typeface="Trebuchet MS"/>
                <a:cs typeface="Trebuchet MS"/>
              </a:rPr>
              <a:t> </a:t>
            </a:r>
            <a:r>
              <a:rPr sz="2200" spc="-10" dirty="0">
                <a:solidFill>
                  <a:srgbClr val="E4DFDF"/>
                </a:solidFill>
                <a:latin typeface="Trebuchet MS"/>
                <a:cs typeface="Trebuchet MS"/>
              </a:rPr>
              <a:t>secure.</a:t>
            </a:r>
            <a:endParaRPr sz="2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1F1F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424</Words>
  <Application>Microsoft Office PowerPoint</Application>
  <PresentationFormat>Custom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Lucida Sans Unicode</vt:lpstr>
      <vt:lpstr>Trebuchet MS</vt:lpstr>
      <vt:lpstr>Office Theme</vt:lpstr>
      <vt:lpstr>Phishing Awareness Training</vt:lpstr>
      <vt:lpstr>What is Phishing?</vt:lpstr>
      <vt:lpstr>Types of Phishing</vt:lpstr>
      <vt:lpstr>How to Identify a Phishing Email</vt:lpstr>
      <vt:lpstr>Real Example Example Email:</vt:lpstr>
      <vt:lpstr>Prevention Tips</vt:lpstr>
      <vt:lpstr>How Organizations Prevent Phishing</vt:lpstr>
      <vt:lpstr>Mini Quiz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>LightPDF - Edit, Convert PDF Files Online for Free</dc:subject>
  <dc:creator>lightpdf.com</dc:creator>
  <cp:lastModifiedBy>SAMYAK JADHAV</cp:lastModifiedBy>
  <cp:revision>1</cp:revision>
  <dcterms:created xsi:type="dcterms:W3CDTF">2025-11-05T06:23:02Z</dcterms:created>
  <dcterms:modified xsi:type="dcterms:W3CDTF">2025-11-05T06:24:19Z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2025-11-05T00:00:00Z</vt:filetime>
  </property>
  <property fmtid="{D5CDD505-2E9C-101B-9397-08002B2CF9AE}" pid="3" name="Creator">
    <vt:lpwstr>lightpdf.com</vt:lpwstr>
  </property>
  <property fmtid="{D5CDD505-2E9C-101B-9397-08002B2CF9AE}" pid="4" name="LastSaved">
    <vt:filetime>2025-11-05T00:00:00Z</vt:filetime>
  </property>
  <property fmtid="{D5CDD505-2E9C-101B-9397-08002B2CF9AE}" pid="5" name="Producer">
    <vt:lpwstr>cpdf non-commercial use only. To buy: http://coherentpdf.com/</vt:lpwstr>
  </property>
</Properties>
</file>